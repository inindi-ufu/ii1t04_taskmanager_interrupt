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58" r:id="rId4"/>
    <p:sldId id="265" r:id="rId5"/>
    <p:sldId id="266" r:id="rId6"/>
    <p:sldId id="268" r:id="rId7"/>
    <p:sldId id="269" r:id="rId8"/>
    <p:sldId id="270" r:id="rId9"/>
    <p:sldId id="274" r:id="rId10"/>
    <p:sldId id="275" r:id="rId11"/>
    <p:sldId id="277" r:id="rId12"/>
    <p:sldId id="278" r:id="rId13"/>
    <p:sldId id="282" r:id="rId14"/>
    <p:sldId id="283" r:id="rId15"/>
    <p:sldId id="284" r:id="rId16"/>
    <p:sldId id="285" r:id="rId17"/>
    <p:sldId id="291" r:id="rId18"/>
    <p:sldId id="292" r:id="rId19"/>
    <p:sldId id="293" r:id="rId20"/>
    <p:sldId id="294" r:id="rId21"/>
    <p:sldId id="295" r:id="rId22"/>
    <p:sldId id="296" r:id="rId23"/>
    <p:sldId id="301" r:id="rId24"/>
    <p:sldId id="302" r:id="rId25"/>
    <p:sldId id="303" r:id="rId26"/>
    <p:sldId id="304" r:id="rId27"/>
    <p:sldId id="309" r:id="rId28"/>
    <p:sldId id="311" r:id="rId29"/>
    <p:sldId id="313" r:id="rId30"/>
    <p:sldId id="314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custSel addSld delSld modSld addMainMaster delMainMaster">
      <pc:chgData name="Josué Silva de Morais" userId="f406c2cd-edfc-4057-be10-75858098c663" providerId="ADAL" clId="{DD587564-A78D-4561-8E64-C12CF1DF9BAA}" dt="2026-04-08T16:52:59.758" v="261" actId="1076"/>
      <pc:docMkLst>
        <pc:docMk/>
      </pc:docMkLst>
      <pc:sldChg chg="modSp new mod">
        <pc:chgData name="Josué Silva de Morais" userId="f406c2cd-edfc-4057-be10-75858098c663" providerId="ADAL" clId="{DD587564-A78D-4561-8E64-C12CF1DF9BAA}" dt="2026-04-05T19:23:02.398" v="20"/>
        <pc:sldMkLst>
          <pc:docMk/>
          <pc:sldMk cId="4293450263" sldId="258"/>
        </pc:sldMkLst>
        <pc:spChg chg="mod">
          <ac:chgData name="Josué Silva de Morais" userId="f406c2cd-edfc-4057-be10-75858098c663" providerId="ADAL" clId="{DD587564-A78D-4561-8E64-C12CF1DF9BAA}" dt="2026-04-05T19:23:02.396" v="18"/>
          <ac:spMkLst>
            <pc:docMk/>
            <pc:sldMk cId="4293450263" sldId="258"/>
            <ac:spMk id="2" creationId="{04B83862-42F8-2DD6-04A3-540B9579B3AD}"/>
          </ac:spMkLst>
        </pc:spChg>
        <pc:spChg chg="mod">
          <ac:chgData name="Josué Silva de Morais" userId="f406c2cd-edfc-4057-be10-75858098c663" providerId="ADAL" clId="{DD587564-A78D-4561-8E64-C12CF1DF9BAA}" dt="2026-04-05T19:23:02.398" v="20"/>
          <ac:spMkLst>
            <pc:docMk/>
            <pc:sldMk cId="4293450263" sldId="258"/>
            <ac:spMk id="3" creationId="{E7D1F863-1E4E-DEB4-5127-213453E8B022}"/>
          </ac:spMkLst>
        </pc:spChg>
      </pc:sldChg>
      <pc:sldChg chg="add">
        <pc:chgData name="Josué Silva de Morais" userId="f406c2cd-edfc-4057-be10-75858098c663" providerId="ADAL" clId="{DD587564-A78D-4561-8E64-C12CF1DF9BAA}" dt="2026-04-05T19:23:24.701" v="21"/>
        <pc:sldMkLst>
          <pc:docMk/>
          <pc:sldMk cId="471468949" sldId="259"/>
        </pc:sldMkLst>
      </pc:sldChg>
      <pc:sldChg chg="add">
        <pc:chgData name="Josué Silva de Morais" userId="f406c2cd-edfc-4057-be10-75858098c663" providerId="ADAL" clId="{DD587564-A78D-4561-8E64-C12CF1DF9BAA}" dt="2026-04-05T19:23:48.353" v="23"/>
        <pc:sldMkLst>
          <pc:docMk/>
          <pc:sldMk cId="232759437" sldId="260"/>
        </pc:sldMkLst>
      </pc:sldChg>
      <pc:sldChg chg="add">
        <pc:chgData name="Josué Silva de Morais" userId="f406c2cd-edfc-4057-be10-75858098c663" providerId="ADAL" clId="{DD587564-A78D-4561-8E64-C12CF1DF9BAA}" dt="2026-04-05T19:24:42.406" v="49"/>
        <pc:sldMkLst>
          <pc:docMk/>
          <pc:sldMk cId="2706640688" sldId="265"/>
        </pc:sldMkLst>
      </pc:sldChg>
      <pc:sldChg chg="add">
        <pc:chgData name="Josué Silva de Morais" userId="f406c2cd-edfc-4057-be10-75858098c663" providerId="ADAL" clId="{DD587564-A78D-4561-8E64-C12CF1DF9BAA}" dt="2026-04-05T19:25:07.950" v="51"/>
        <pc:sldMkLst>
          <pc:docMk/>
          <pc:sldMk cId="2150331781" sldId="266"/>
        </pc:sldMkLst>
      </pc:sldChg>
      <pc:sldChg chg="add">
        <pc:chgData name="Josué Silva de Morais" userId="f406c2cd-edfc-4057-be10-75858098c663" providerId="ADAL" clId="{DD587564-A78D-4561-8E64-C12CF1DF9BAA}" dt="2026-04-05T19:25:38.073" v="55"/>
        <pc:sldMkLst>
          <pc:docMk/>
          <pc:sldMk cId="1509496227" sldId="268"/>
        </pc:sldMkLst>
      </pc:sldChg>
      <pc:sldChg chg="add">
        <pc:chgData name="Josué Silva de Morais" userId="f406c2cd-edfc-4057-be10-75858098c663" providerId="ADAL" clId="{DD587564-A78D-4561-8E64-C12CF1DF9BAA}" dt="2026-04-05T19:25:57.906" v="57"/>
        <pc:sldMkLst>
          <pc:docMk/>
          <pc:sldMk cId="1144729738" sldId="269"/>
        </pc:sldMkLst>
      </pc:sldChg>
      <pc:sldChg chg="modSp new mod">
        <pc:chgData name="Josué Silva de Morais" userId="f406c2cd-edfc-4057-be10-75858098c663" providerId="ADAL" clId="{DD587564-A78D-4561-8E64-C12CF1DF9BAA}" dt="2026-04-05T19:26:29.808" v="67"/>
        <pc:sldMkLst>
          <pc:docMk/>
          <pc:sldMk cId="1660337494" sldId="270"/>
        </pc:sldMkLst>
        <pc:spChg chg="mod">
          <ac:chgData name="Josué Silva de Morais" userId="f406c2cd-edfc-4057-be10-75858098c663" providerId="ADAL" clId="{DD587564-A78D-4561-8E64-C12CF1DF9BAA}" dt="2026-04-05T19:26:29.807" v="65"/>
          <ac:spMkLst>
            <pc:docMk/>
            <pc:sldMk cId="1660337494" sldId="270"/>
            <ac:spMk id="2" creationId="{0E0F2E78-4A95-A8DF-A4A8-4F19DD84F334}"/>
          </ac:spMkLst>
        </pc:spChg>
        <pc:spChg chg="mod">
          <ac:chgData name="Josué Silva de Morais" userId="f406c2cd-edfc-4057-be10-75858098c663" providerId="ADAL" clId="{DD587564-A78D-4561-8E64-C12CF1DF9BAA}" dt="2026-04-05T19:26:29.808" v="67"/>
          <ac:spMkLst>
            <pc:docMk/>
            <pc:sldMk cId="1660337494" sldId="270"/>
            <ac:spMk id="3" creationId="{209AF9F4-D20E-59BD-C36F-F626C497B2E6}"/>
          </ac:spMkLst>
        </pc:spChg>
      </pc:sldChg>
      <pc:sldChg chg="add">
        <pc:chgData name="Josué Silva de Morais" userId="f406c2cd-edfc-4057-be10-75858098c663" providerId="ADAL" clId="{DD587564-A78D-4561-8E64-C12CF1DF9BAA}" dt="2026-04-05T19:26:53.612" v="83"/>
        <pc:sldMkLst>
          <pc:docMk/>
          <pc:sldMk cId="507599950" sldId="274"/>
        </pc:sldMkLst>
      </pc:sldChg>
      <pc:sldChg chg="add">
        <pc:chgData name="Josué Silva de Morais" userId="f406c2cd-edfc-4057-be10-75858098c663" providerId="ADAL" clId="{DD587564-A78D-4561-8E64-C12CF1DF9BAA}" dt="2026-04-05T19:27:28.436" v="85"/>
        <pc:sldMkLst>
          <pc:docMk/>
          <pc:sldMk cId="1577667584" sldId="275"/>
        </pc:sldMkLst>
      </pc:sldChg>
      <pc:sldChg chg="add">
        <pc:chgData name="Josué Silva de Morais" userId="f406c2cd-edfc-4057-be10-75858098c663" providerId="ADAL" clId="{DD587564-A78D-4561-8E64-C12CF1DF9BAA}" dt="2026-04-05T19:28:18.825" v="89"/>
        <pc:sldMkLst>
          <pc:docMk/>
          <pc:sldMk cId="529687600" sldId="277"/>
        </pc:sldMkLst>
      </pc:sldChg>
      <pc:sldChg chg="modSp new mod">
        <pc:chgData name="Josué Silva de Morais" userId="f406c2cd-edfc-4057-be10-75858098c663" providerId="ADAL" clId="{DD587564-A78D-4561-8E64-C12CF1DF9BAA}" dt="2026-04-05T19:28:55.153" v="99"/>
        <pc:sldMkLst>
          <pc:docMk/>
          <pc:sldMk cId="89740095" sldId="278"/>
        </pc:sldMkLst>
        <pc:spChg chg="mod">
          <ac:chgData name="Josué Silva de Morais" userId="f406c2cd-edfc-4057-be10-75858098c663" providerId="ADAL" clId="{DD587564-A78D-4561-8E64-C12CF1DF9BAA}" dt="2026-04-05T19:28:55.148" v="97"/>
          <ac:spMkLst>
            <pc:docMk/>
            <pc:sldMk cId="89740095" sldId="278"/>
            <ac:spMk id="2" creationId="{CB70CAA4-9C4B-9014-1963-4113CCA25D09}"/>
          </ac:spMkLst>
        </pc:spChg>
        <pc:spChg chg="mod">
          <ac:chgData name="Josué Silva de Morais" userId="f406c2cd-edfc-4057-be10-75858098c663" providerId="ADAL" clId="{DD587564-A78D-4561-8E64-C12CF1DF9BAA}" dt="2026-04-05T19:28:55.153" v="99"/>
          <ac:spMkLst>
            <pc:docMk/>
            <pc:sldMk cId="89740095" sldId="278"/>
            <ac:spMk id="3" creationId="{4146D777-F4D7-4BCB-8D7B-D6E6D4B5AA52}"/>
          </ac:spMkLst>
        </pc:spChg>
      </pc:sldChg>
      <pc:sldChg chg="modSp add mod">
        <pc:chgData name="Josué Silva de Morais" userId="f406c2cd-edfc-4057-be10-75858098c663" providerId="ADAL" clId="{DD587564-A78D-4561-8E64-C12CF1DF9BAA}" dt="2026-04-05T19:39:57.896" v="242"/>
        <pc:sldMkLst>
          <pc:docMk/>
          <pc:sldMk cId="984465042" sldId="282"/>
        </pc:sldMkLst>
        <pc:spChg chg="mod">
          <ac:chgData name="Josué Silva de Morais" userId="f406c2cd-edfc-4057-be10-75858098c663" providerId="ADAL" clId="{DD587564-A78D-4561-8E64-C12CF1DF9BAA}" dt="2026-04-05T19:39:57.896" v="242"/>
          <ac:spMkLst>
            <pc:docMk/>
            <pc:sldMk cId="984465042" sldId="282"/>
            <ac:spMk id="3" creationId="{B6E2F2D7-AD0B-05B5-5E6A-1708E9760FAE}"/>
          </ac:spMkLst>
        </pc:spChg>
      </pc:sldChg>
      <pc:sldChg chg="add">
        <pc:chgData name="Josué Silva de Morais" userId="f406c2cd-edfc-4057-be10-75858098c663" providerId="ADAL" clId="{DD587564-A78D-4561-8E64-C12CF1DF9BAA}" dt="2026-04-05T19:29:58.991" v="115"/>
        <pc:sldMkLst>
          <pc:docMk/>
          <pc:sldMk cId="2769705552" sldId="283"/>
        </pc:sldMkLst>
      </pc:sldChg>
      <pc:sldChg chg="add">
        <pc:chgData name="Josué Silva de Morais" userId="f406c2cd-edfc-4057-be10-75858098c663" providerId="ADAL" clId="{DD587564-A78D-4561-8E64-C12CF1DF9BAA}" dt="2026-04-05T19:30:18.824" v="117"/>
        <pc:sldMkLst>
          <pc:docMk/>
          <pc:sldMk cId="3460480457" sldId="284"/>
        </pc:sldMkLst>
      </pc:sldChg>
      <pc:sldChg chg="modSp new mod">
        <pc:chgData name="Josué Silva de Morais" userId="f406c2cd-edfc-4057-be10-75858098c663" providerId="ADAL" clId="{DD587564-A78D-4561-8E64-C12CF1DF9BAA}" dt="2026-04-05T19:30:43.586" v="129"/>
        <pc:sldMkLst>
          <pc:docMk/>
          <pc:sldMk cId="4193962880" sldId="285"/>
        </pc:sldMkLst>
        <pc:spChg chg="mod">
          <ac:chgData name="Josué Silva de Morais" userId="f406c2cd-edfc-4057-be10-75858098c663" providerId="ADAL" clId="{DD587564-A78D-4561-8E64-C12CF1DF9BAA}" dt="2026-04-05T19:30:43.584" v="127"/>
          <ac:spMkLst>
            <pc:docMk/>
            <pc:sldMk cId="4193962880" sldId="285"/>
            <ac:spMk id="2" creationId="{D096F1D1-AC2F-79C1-0B22-8DC6B6EF244C}"/>
          </ac:spMkLst>
        </pc:spChg>
        <pc:spChg chg="mod">
          <ac:chgData name="Josué Silva de Morais" userId="f406c2cd-edfc-4057-be10-75858098c663" providerId="ADAL" clId="{DD587564-A78D-4561-8E64-C12CF1DF9BAA}" dt="2026-04-05T19:30:43.586" v="129"/>
          <ac:spMkLst>
            <pc:docMk/>
            <pc:sldMk cId="4193962880" sldId="285"/>
            <ac:spMk id="3" creationId="{BF0624F7-D8BF-0F7B-CA8B-8D43FAC0C345}"/>
          </ac:spMkLst>
        </pc:spChg>
      </pc:sldChg>
      <pc:sldChg chg="modSp add mod">
        <pc:chgData name="Josué Silva de Morais" userId="f406c2cd-edfc-4057-be10-75858098c663" providerId="ADAL" clId="{DD587564-A78D-4561-8E64-C12CF1DF9BAA}" dt="2026-04-05T19:39:57.910" v="243"/>
        <pc:sldMkLst>
          <pc:docMk/>
          <pc:sldMk cId="1085587549" sldId="291"/>
        </pc:sldMkLst>
        <pc:spChg chg="mod">
          <ac:chgData name="Josué Silva de Morais" userId="f406c2cd-edfc-4057-be10-75858098c663" providerId="ADAL" clId="{DD587564-A78D-4561-8E64-C12CF1DF9BAA}" dt="2026-04-05T19:39:57.910" v="243"/>
          <ac:spMkLst>
            <pc:docMk/>
            <pc:sldMk cId="1085587549" sldId="291"/>
            <ac:spMk id="3" creationId="{6902E20C-70A7-7F53-346F-68A1A7B24920}"/>
          </ac:spMkLst>
        </pc:spChg>
      </pc:sldChg>
      <pc:sldChg chg="modSp add mod">
        <pc:chgData name="Josué Silva de Morais" userId="f406c2cd-edfc-4057-be10-75858098c663" providerId="ADAL" clId="{DD587564-A78D-4561-8E64-C12CF1DF9BAA}" dt="2026-04-08T16:52:59.758" v="261" actId="1076"/>
        <pc:sldMkLst>
          <pc:docMk/>
          <pc:sldMk cId="1169813509" sldId="292"/>
        </pc:sldMkLst>
        <pc:spChg chg="mod">
          <ac:chgData name="Josué Silva de Morais" userId="f406c2cd-edfc-4057-be10-75858098c663" providerId="ADAL" clId="{DD587564-A78D-4561-8E64-C12CF1DF9BAA}" dt="2026-04-08T16:52:59.758" v="261" actId="1076"/>
          <ac:spMkLst>
            <pc:docMk/>
            <pc:sldMk cId="1169813509" sldId="292"/>
            <ac:spMk id="1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8T16:52:46.693" v="258" actId="1076"/>
          <ac:spMkLst>
            <pc:docMk/>
            <pc:sldMk cId="1169813509" sldId="292"/>
            <ac:spMk id="15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8T16:52:50.768" v="259" actId="1076"/>
          <ac:spMkLst>
            <pc:docMk/>
            <pc:sldMk cId="1169813509" sldId="292"/>
            <ac:spMk id="16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8T16:52:59.758" v="261" actId="1076"/>
          <ac:spMkLst>
            <pc:docMk/>
            <pc:sldMk cId="1169813509" sldId="292"/>
            <ac:spMk id="30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8T16:52:50.768" v="259" actId="1076"/>
          <ac:spMkLst>
            <pc:docMk/>
            <pc:sldMk cId="1169813509" sldId="292"/>
            <ac:spMk id="32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8T16:52:56.070" v="260" actId="1076"/>
          <ac:spMkLst>
            <pc:docMk/>
            <pc:sldMk cId="1169813509" sldId="292"/>
            <ac:spMk id="33" creationId="{00000000-0000-0000-0000-000000000000}"/>
          </ac:spMkLst>
        </pc:spChg>
      </pc:sldChg>
      <pc:sldChg chg="modSp add mod">
        <pc:chgData name="Josué Silva de Morais" userId="f406c2cd-edfc-4057-be10-75858098c663" providerId="ADAL" clId="{DD587564-A78D-4561-8E64-C12CF1DF9BAA}" dt="2026-04-05T19:39:57.915" v="244"/>
        <pc:sldMkLst>
          <pc:docMk/>
          <pc:sldMk cId="750656215" sldId="293"/>
        </pc:sldMkLst>
        <pc:spChg chg="mod">
          <ac:chgData name="Josué Silva de Morais" userId="f406c2cd-edfc-4057-be10-75858098c663" providerId="ADAL" clId="{DD587564-A78D-4561-8E64-C12CF1DF9BAA}" dt="2026-04-05T19:39:57.915" v="244"/>
          <ac:spMkLst>
            <pc:docMk/>
            <pc:sldMk cId="750656215" sldId="293"/>
            <ac:spMk id="3" creationId="{11229EAA-4B21-0852-C643-B5B75D65F5E1}"/>
          </ac:spMkLst>
        </pc:spChg>
      </pc:sldChg>
      <pc:sldChg chg="modSp add mod">
        <pc:chgData name="Josué Silva de Morais" userId="f406c2cd-edfc-4057-be10-75858098c663" providerId="ADAL" clId="{DD587564-A78D-4561-8E64-C12CF1DF9BAA}" dt="2026-04-05T19:39:57.926" v="256"/>
        <pc:sldMkLst>
          <pc:docMk/>
          <pc:sldMk cId="734250019" sldId="294"/>
        </pc:sldMkLst>
        <pc:spChg chg="mod">
          <ac:chgData name="Josué Silva de Morais" userId="f406c2cd-edfc-4057-be10-75858098c663" providerId="ADAL" clId="{DD587564-A78D-4561-8E64-C12CF1DF9BAA}" dt="2026-04-05T19:39:57.921" v="245"/>
          <ac:spMkLst>
            <pc:docMk/>
            <pc:sldMk cId="734250019" sldId="294"/>
            <ac:spMk id="10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2" v="246"/>
          <ac:spMkLst>
            <pc:docMk/>
            <pc:sldMk cId="734250019" sldId="294"/>
            <ac:spMk id="1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2" v="247"/>
          <ac:spMkLst>
            <pc:docMk/>
            <pc:sldMk cId="734250019" sldId="294"/>
            <ac:spMk id="12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2" v="248"/>
          <ac:spMkLst>
            <pc:docMk/>
            <pc:sldMk cId="734250019" sldId="294"/>
            <ac:spMk id="13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3" v="249"/>
          <ac:spMkLst>
            <pc:docMk/>
            <pc:sldMk cId="734250019" sldId="294"/>
            <ac:spMk id="14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3" v="250"/>
          <ac:spMkLst>
            <pc:docMk/>
            <pc:sldMk cId="734250019" sldId="294"/>
            <ac:spMk id="15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4" v="251"/>
          <ac:spMkLst>
            <pc:docMk/>
            <pc:sldMk cId="734250019" sldId="294"/>
            <ac:spMk id="16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4" v="252"/>
          <ac:spMkLst>
            <pc:docMk/>
            <pc:sldMk cId="734250019" sldId="294"/>
            <ac:spMk id="17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4" v="253"/>
          <ac:spMkLst>
            <pc:docMk/>
            <pc:sldMk cId="734250019" sldId="294"/>
            <ac:spMk id="18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5" v="254"/>
          <ac:spMkLst>
            <pc:docMk/>
            <pc:sldMk cId="734250019" sldId="294"/>
            <ac:spMk id="20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5" v="255"/>
          <ac:spMkLst>
            <pc:docMk/>
            <pc:sldMk cId="734250019" sldId="294"/>
            <ac:spMk id="2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19:39:57.926" v="256"/>
          <ac:spMkLst>
            <pc:docMk/>
            <pc:sldMk cId="734250019" sldId="294"/>
            <ac:spMk id="22" creationId="{00000000-0000-0000-0000-000000000000}"/>
          </ac:spMkLst>
        </pc:spChg>
      </pc:sldChg>
      <pc:sldChg chg="add">
        <pc:chgData name="Josué Silva de Morais" userId="f406c2cd-edfc-4057-be10-75858098c663" providerId="ADAL" clId="{DD587564-A78D-4561-8E64-C12CF1DF9BAA}" dt="2026-04-05T19:33:16.979" v="158"/>
        <pc:sldMkLst>
          <pc:docMk/>
          <pc:sldMk cId="2661046373" sldId="295"/>
        </pc:sldMkLst>
      </pc:sldChg>
      <pc:sldChg chg="modSp new mod">
        <pc:chgData name="Josué Silva de Morais" userId="f406c2cd-edfc-4057-be10-75858098c663" providerId="ADAL" clId="{DD587564-A78D-4561-8E64-C12CF1DF9BAA}" dt="2026-04-05T19:33:42.430" v="168"/>
        <pc:sldMkLst>
          <pc:docMk/>
          <pc:sldMk cId="4124884198" sldId="296"/>
        </pc:sldMkLst>
        <pc:spChg chg="mod">
          <ac:chgData name="Josué Silva de Morais" userId="f406c2cd-edfc-4057-be10-75858098c663" providerId="ADAL" clId="{DD587564-A78D-4561-8E64-C12CF1DF9BAA}" dt="2026-04-05T19:33:42.425" v="166"/>
          <ac:spMkLst>
            <pc:docMk/>
            <pc:sldMk cId="4124884198" sldId="296"/>
            <ac:spMk id="2" creationId="{5400BE82-AF7B-0B24-BCBD-52F515E8B7FB}"/>
          </ac:spMkLst>
        </pc:spChg>
        <pc:spChg chg="mod">
          <ac:chgData name="Josué Silva de Morais" userId="f406c2cd-edfc-4057-be10-75858098c663" providerId="ADAL" clId="{DD587564-A78D-4561-8E64-C12CF1DF9BAA}" dt="2026-04-05T19:33:42.430" v="168"/>
          <ac:spMkLst>
            <pc:docMk/>
            <pc:sldMk cId="4124884198" sldId="296"/>
            <ac:spMk id="3" creationId="{75B244A3-653A-0DA7-6822-0C84E556F7EE}"/>
          </ac:spMkLst>
        </pc:spChg>
      </pc:sldChg>
      <pc:sldChg chg="add">
        <pc:chgData name="Josué Silva de Morais" userId="f406c2cd-edfc-4057-be10-75858098c663" providerId="ADAL" clId="{DD587564-A78D-4561-8E64-C12CF1DF9BAA}" dt="2026-04-05T19:34:20.108" v="186"/>
        <pc:sldMkLst>
          <pc:docMk/>
          <pc:sldMk cId="643211854" sldId="301"/>
        </pc:sldMkLst>
      </pc:sldChg>
      <pc:sldChg chg="add">
        <pc:chgData name="Josué Silva de Morais" userId="f406c2cd-edfc-4057-be10-75858098c663" providerId="ADAL" clId="{DD587564-A78D-4561-8E64-C12CF1DF9BAA}" dt="2026-04-05T19:34:47.314" v="188"/>
        <pc:sldMkLst>
          <pc:docMk/>
          <pc:sldMk cId="831878955" sldId="302"/>
        </pc:sldMkLst>
      </pc:sldChg>
      <pc:sldChg chg="add">
        <pc:chgData name="Josué Silva de Morais" userId="f406c2cd-edfc-4057-be10-75858098c663" providerId="ADAL" clId="{DD587564-A78D-4561-8E64-C12CF1DF9BAA}" dt="2026-04-05T19:35:09.919" v="190"/>
        <pc:sldMkLst>
          <pc:docMk/>
          <pc:sldMk cId="3802595861" sldId="303"/>
        </pc:sldMkLst>
      </pc:sldChg>
      <pc:sldChg chg="modSp new mod">
        <pc:chgData name="Josué Silva de Morais" userId="f406c2cd-edfc-4057-be10-75858098c663" providerId="ADAL" clId="{DD587564-A78D-4561-8E64-C12CF1DF9BAA}" dt="2026-04-05T19:40:14.792" v="257"/>
        <pc:sldMkLst>
          <pc:docMk/>
          <pc:sldMk cId="3003300728" sldId="304"/>
        </pc:sldMkLst>
        <pc:spChg chg="mod">
          <ac:chgData name="Josué Silva de Morais" userId="f406c2cd-edfc-4057-be10-75858098c663" providerId="ADAL" clId="{DD587564-A78D-4561-8E64-C12CF1DF9BAA}" dt="2026-04-05T19:35:38.025" v="199"/>
          <ac:spMkLst>
            <pc:docMk/>
            <pc:sldMk cId="3003300728" sldId="304"/>
            <ac:spMk id="2" creationId="{941C45F4-B1D5-587E-0F9D-C2E6BFB933C2}"/>
          </ac:spMkLst>
        </pc:spChg>
        <pc:spChg chg="mod">
          <ac:chgData name="Josué Silva de Morais" userId="f406c2cd-edfc-4057-be10-75858098c663" providerId="ADAL" clId="{DD587564-A78D-4561-8E64-C12CF1DF9BAA}" dt="2026-04-05T19:40:14.792" v="257"/>
          <ac:spMkLst>
            <pc:docMk/>
            <pc:sldMk cId="3003300728" sldId="304"/>
            <ac:spMk id="3" creationId="{81322318-E8AE-759F-8C6F-90EEF0A992CC}"/>
          </ac:spMkLst>
        </pc:spChg>
      </pc:sldChg>
      <pc:sldChg chg="add">
        <pc:chgData name="Josué Silva de Morais" userId="f406c2cd-edfc-4057-be10-75858098c663" providerId="ADAL" clId="{DD587564-A78D-4561-8E64-C12CF1DF9BAA}" dt="2026-04-05T19:36:07.369" v="224"/>
        <pc:sldMkLst>
          <pc:docMk/>
          <pc:sldMk cId="2210735953" sldId="309"/>
        </pc:sldMkLst>
      </pc:sldChg>
      <pc:sldChg chg="modSp add mod">
        <pc:chgData name="Josué Silva de Morais" userId="f406c2cd-edfc-4057-be10-75858098c663" providerId="ADAL" clId="{DD587564-A78D-4561-8E64-C12CF1DF9BAA}" dt="2026-04-05T19:37:16.645" v="231" actId="27636"/>
        <pc:sldMkLst>
          <pc:docMk/>
          <pc:sldMk cId="1785042636" sldId="311"/>
        </pc:sldMkLst>
        <pc:spChg chg="mod">
          <ac:chgData name="Josué Silva de Morais" userId="f406c2cd-edfc-4057-be10-75858098c663" providerId="ADAL" clId="{DD587564-A78D-4561-8E64-C12CF1DF9BAA}" dt="2026-04-05T19:37:16.643" v="230" actId="27636"/>
          <ac:spMkLst>
            <pc:docMk/>
            <pc:sldMk cId="1785042636" sldId="311"/>
            <ac:spMk id="3" creationId="{F2D5EE1E-B43D-6F05-374F-F06D5E878B97}"/>
          </ac:spMkLst>
        </pc:spChg>
        <pc:spChg chg="mod">
          <ac:chgData name="Josué Silva de Morais" userId="f406c2cd-edfc-4057-be10-75858098c663" providerId="ADAL" clId="{DD587564-A78D-4561-8E64-C12CF1DF9BAA}" dt="2026-04-05T19:37:16.645" v="231" actId="27636"/>
          <ac:spMkLst>
            <pc:docMk/>
            <pc:sldMk cId="1785042636" sldId="311"/>
            <ac:spMk id="4" creationId="{0329A079-2F17-7C47-EA6B-6D6338DBA947}"/>
          </ac:spMkLst>
        </pc:spChg>
      </pc:sldChg>
      <pc:sldChg chg="modSp add mod">
        <pc:chgData name="Josué Silva de Morais" userId="f406c2cd-edfc-4057-be10-75858098c663" providerId="ADAL" clId="{DD587564-A78D-4561-8E64-C12CF1DF9BAA}" dt="2026-04-05T19:38:33.836" v="239" actId="27636"/>
        <pc:sldMkLst>
          <pc:docMk/>
          <pc:sldMk cId="2230390174" sldId="313"/>
        </pc:sldMkLst>
        <pc:spChg chg="mod">
          <ac:chgData name="Josué Silva de Morais" userId="f406c2cd-edfc-4057-be10-75858098c663" providerId="ADAL" clId="{DD587564-A78D-4561-8E64-C12CF1DF9BAA}" dt="2026-04-05T19:38:33.834" v="238" actId="27636"/>
          <ac:spMkLst>
            <pc:docMk/>
            <pc:sldMk cId="2230390174" sldId="313"/>
            <ac:spMk id="3" creationId="{375A6638-A3E3-AD02-F256-26594890E4A0}"/>
          </ac:spMkLst>
        </pc:spChg>
        <pc:spChg chg="mod">
          <ac:chgData name="Josué Silva de Morais" userId="f406c2cd-edfc-4057-be10-75858098c663" providerId="ADAL" clId="{DD587564-A78D-4561-8E64-C12CF1DF9BAA}" dt="2026-04-05T19:38:33.836" v="239" actId="27636"/>
          <ac:spMkLst>
            <pc:docMk/>
            <pc:sldMk cId="2230390174" sldId="313"/>
            <ac:spMk id="4" creationId="{9A9B679B-AB52-0D9B-5CF4-65F4D45BF4E0}"/>
          </ac:spMkLst>
        </pc:spChg>
      </pc:sldChg>
      <pc:sldChg chg="add">
        <pc:chgData name="Josué Silva de Morais" userId="f406c2cd-edfc-4057-be10-75858098c663" providerId="ADAL" clId="{DD587564-A78D-4561-8E64-C12CF1DF9BAA}" dt="2026-04-05T19:39:03.606" v="240"/>
        <pc:sldMkLst>
          <pc:docMk/>
          <pc:sldMk cId="4054380122" sldId="314"/>
        </pc:sldMkLst>
      </pc:sldChg>
      <pc:sldMasterChg chg="add addSldLayout">
        <pc:chgData name="Josué Silva de Morais" userId="f406c2cd-edfc-4057-be10-75858098c663" providerId="ADAL" clId="{DD587564-A78D-4561-8E64-C12CF1DF9BAA}" dt="2026-04-05T19:20:33.616" v="0"/>
        <pc:sldMasterMkLst>
          <pc:docMk/>
          <pc:sldMasterMk cId="3323791696" sldId="2147483660"/>
        </pc:sldMasterMkLst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3795301041" sldId="2147483661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3268291336" sldId="2147483662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380653001" sldId="2147483663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851792274" sldId="2147483664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3535258901" sldId="2147483665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1721803520" sldId="2147483666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1841233054" sldId="2147483667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4060944561" sldId="2147483668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2285770509" sldId="2147483669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1182197693" sldId="2147483670"/>
          </pc:sldLayoutMkLst>
        </pc:sldLayoutChg>
        <pc:sldLayoutChg chg="add">
          <pc:chgData name="Josué Silva de Morais" userId="f406c2cd-edfc-4057-be10-75858098c663" providerId="ADAL" clId="{DD587564-A78D-4561-8E64-C12CF1DF9BAA}" dt="2026-04-05T19:20:33.616" v="0"/>
          <pc:sldLayoutMkLst>
            <pc:docMk/>
            <pc:sldMasterMk cId="3323791696" sldId="2147483660"/>
            <pc:sldLayoutMk cId="341497158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B20A5-66C7-42E1-2F30-2404216B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34F1E5-D5DD-36E2-3133-3F3EC0616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6B43EA-731B-A489-E6CD-8CE38F7E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3BDE6D-1B54-605D-0FC5-22FF8E8C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3E1F71-8A40-0123-09AC-4B44D440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530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C6AFF-E8A2-D7FC-340C-3BE44F2F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AC09C8-BD4C-8213-3B86-CD919496E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20DE7E-4290-97F8-59D6-A858B969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784EF0-F180-FD14-19C0-CF4DD23A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B105DE-DD1A-B4AB-D986-4E5F8E22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29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EF1DA-0FFE-5CBC-E4D1-B4D8A376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200171-D1FB-3B6E-4346-355D49DF9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0CFDEF-2E1E-F050-A761-EA7DFBCE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6E126A-A494-99E2-EAF3-3495C4EA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6B5C6-5D97-3FC8-CDEC-57A04A9C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5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F0D8A-2323-4BF8-D315-09355101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BDBF33-2118-2B30-7DA5-B9AB28CF3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A7FB78-ADAF-A46C-2473-E6C2911B0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241625-B6CE-3FB0-1792-7AB18C21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6B554B-F53C-9CC0-42DE-3FA2BA99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B0E5F2-606A-6839-410E-91318C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79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FEFA0-BFD8-1894-D863-B3F6D0A8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FE391C-BCB4-FC3C-2E1F-A7476D4E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0C5602-6138-8C90-DADF-BD33ADF69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B235491-3123-E73F-EA78-BB83B0C66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D61FEA-DD7B-53C3-EC88-50721D4A7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C0E751B-8A07-76F2-D0AC-AE5131B4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707761-43E5-D4E3-33BE-EF5CFA3D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1DF655-0873-9C33-F580-5C716EE4B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25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48C61-7CE1-E13E-4070-F82881D8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25B446-A762-5893-1FA1-EC6E9BAD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E4CF92A-0409-D8E3-427F-0A307FAA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13A2FA-4B83-6846-5ABE-CEA22171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80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68BF13-50BD-D0F1-F431-C2BB90D6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D716DF2-915A-15AD-DFD6-1F3DBF27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29E11E-2152-AE02-3D44-1573E70F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123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B9169-00DC-D4F7-48DC-A99EC25A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19D329-A276-2827-83D5-8F385FF1A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AE43AC-5AED-8C55-0F25-E8C7DEE3D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B22AF5-EE29-8E6A-4FC1-30090DED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CC85EB-E858-0D12-8FC6-721A1079C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0C8F55-2CD7-E0CC-0C11-BA09CC46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94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AE79C-91BE-A458-1C05-529EC602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380A79-C767-A963-2EEC-DB1768998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CE68E4-9A43-EDF8-68E5-DABF90F14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6E4CBF-4836-D6FD-1DC4-050F314A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EF6B34-2F08-8ABE-49D8-7E670BEC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12E5D-64C9-BF7E-B754-B77E4EAF6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7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5AE52-C152-2CB8-EC42-7AE88D8B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B4370D-22BE-DA4B-788D-6922308CB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3C505D-8C0E-B719-EA8F-2F89E00B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931E25-10EE-E289-C769-352ACA0C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E28016-E5B2-A427-8FAC-9E81BF80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19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A60FE9-E94B-D3DB-6392-CE611C4C6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74E5C7-B571-C572-F989-95D2C16A5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C0E7ED-1076-9E83-211D-8ACE37AE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1F149D-4D30-2B0B-FBC7-BBE7CB35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15F897-9FCF-4C61-E20E-8B1189E6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97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131A"/>
            </a:gs>
            <a:gs pos="100000">
              <a:srgbClr val="1A1B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1CDCE4-F217-9C2E-330E-0FA9CFA7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8A5A2F-1E80-2521-DDA9-9AD205E8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591233-5B4B-359A-3458-7E1AEB1AF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45911-0C02-4243-A6C2-B5DA87C278C1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BB0BC8-263A-C1BF-AAEE-8D6F2EF9A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6938F-2E97-1E3E-2775-8E2E52FCB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D38A9-3A00-470D-8CD4-8DA33E24D42C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AccentBar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gradFill>
            <a:gsLst>
              <a:gs pos="0">
                <a:srgbClr val="6C63FF"/>
              </a:gs>
              <a:gs pos="50000">
                <a:srgbClr val="00D9A6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CornerAccent"/>
          <p:cNvSpPr/>
          <p:nvPr/>
        </p:nvSpPr>
        <p:spPr>
          <a:xfrm>
            <a:off x="0" y="0"/>
            <a:ext cx="457200" cy="457200"/>
          </a:xfrm>
          <a:prstGeom prst="rtTriangle">
            <a:avLst/>
          </a:prstGeom>
          <a:solidFill>
            <a:srgbClr val="6C63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79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0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0D0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0D0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E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E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E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E0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D0D0E0"/>
          </a:solidFill>
        </a:defRPr>
      </a:defPPr>
      <a:lvl1pPr marL="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68AB2-5DFC-786E-0032-F84C5DD95A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Gerenciamento de Tarefas,
Tempo e Estados na ESP32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2AE9CA-EB13-1836-80AD-12A0E65C89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1800"/>
              <a:t>FreeRTOS • millis() • State Machines • Interrupções</a:t>
            </a:r>
          </a:p>
        </p:txBody>
      </p:sp>
      <p:sp>
        <p:nvSpPr>
          <p:cNvPr id="10" name="AccentLine"/>
          <p:cNvSpPr/>
          <p:nvPr/>
        </p:nvSpPr>
        <p:spPr>
          <a:xfrm>
            <a:off x="3200400" y="3700000"/>
            <a:ext cx="5791200" cy="36000"/>
          </a:xfrm>
          <a:prstGeom prst="rect">
            <a:avLst/>
          </a:prstGeom>
          <a:gradFill>
            <a:gsLst>
              <a:gs pos="0">
                <a:srgbClr val="6C63FF"/>
              </a:gs>
              <a:gs pos="100000">
                <a:srgbClr val="00D9A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ChipIcon"/>
          <p:cNvSpPr/>
          <p:nvPr/>
        </p:nvSpPr>
        <p:spPr>
          <a:xfrm>
            <a:off x="5400000" y="5200000"/>
            <a:ext cx="1400000" cy="500000"/>
          </a:xfrm>
          <a:prstGeom prst="roundRect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4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pt-BR" sz="1400" b="1" dirty="0">
                <a:solidFill>
                  <a:srgbClr val="6C63FF"/>
                </a:solidFill>
                <a:latin typeface="Consolas"/>
              </a:rPr>
              <a:t>ESP32</a:t>
            </a:r>
          </a:p>
        </p:txBody>
      </p:sp>
    </p:spTree>
    <p:extLst>
      <p:ext uri="{BB962C8B-B14F-4D97-AF65-F5344CB8AC3E}">
        <p14:creationId xmlns:p14="http://schemas.microsoft.com/office/powerpoint/2010/main" val="471468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D67C8-1AA9-E10A-BA12-731AF524E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50B19A-8F27-8360-8BAF-33D252658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32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6C63FF"/>
                </a:solidFill>
              </a:rPr>
              <a:t>01  </a:t>
            </a:r>
            <a:r>
              <a:rPr lang="pt-BR" sz="1800" dirty="0">
                <a:solidFill>
                  <a:srgbClr val="F0F0F5"/>
                </a:solidFill>
              </a:rPr>
              <a:t>Task Management na ESP32</a:t>
            </a:r>
          </a:p>
          <a:p>
            <a:pPr marL="457200" indent="-457200">
              <a:lnSpc>
                <a:spcPts val="32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00D9A6"/>
                </a:solidFill>
              </a:rPr>
              <a:t>02  </a:t>
            </a:r>
            <a:r>
              <a:rPr lang="pt-BR" sz="1800" dirty="0">
                <a:solidFill>
                  <a:srgbClr val="F0F0F5"/>
                </a:solidFill>
              </a:rPr>
              <a:t>O Problema do delay()</a:t>
            </a:r>
          </a:p>
          <a:p>
            <a:pPr marL="457200" indent="-457200">
              <a:lnSpc>
                <a:spcPts val="32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FF6B6B"/>
                </a:solidFill>
              </a:rPr>
              <a:t>03  </a:t>
            </a:r>
            <a:r>
              <a:rPr lang="pt-BR" sz="1800" dirty="0">
                <a:solidFill>
                  <a:srgbClr val="F0F0F5"/>
                </a:solidFill>
              </a:rPr>
              <a:t>Controle de Tempo com millis()</a:t>
            </a:r>
          </a:p>
          <a:p>
            <a:pPr marL="457200" indent="-457200">
              <a:lnSpc>
                <a:spcPts val="32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FFC857"/>
                </a:solidFill>
              </a:rPr>
              <a:t>04  </a:t>
            </a:r>
            <a:r>
              <a:rPr lang="pt-BR" sz="1800" dirty="0">
                <a:solidFill>
                  <a:srgbClr val="F0F0F5"/>
                </a:solidFill>
              </a:rPr>
              <a:t>Máquinas de Estado (State Machines)</a:t>
            </a:r>
          </a:p>
          <a:p>
            <a:pPr marL="457200" indent="-457200">
              <a:lnSpc>
                <a:spcPts val="32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4ECDC4"/>
                </a:solidFill>
              </a:rPr>
              <a:t>05  </a:t>
            </a:r>
            <a:r>
              <a:rPr lang="pt-BR" sz="1800" dirty="0">
                <a:solidFill>
                  <a:srgbClr val="F0F0F5"/>
                </a:solidFill>
              </a:rPr>
              <a:t>Interrupções (GPIO &amp; Timer)</a:t>
            </a:r>
          </a:p>
          <a:p>
            <a:pPr marL="457200" indent="-457200">
              <a:lnSpc>
                <a:spcPts val="32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A78BFA"/>
                </a:solidFill>
              </a:rPr>
              <a:t>06  </a:t>
            </a:r>
            <a:r>
              <a:rPr lang="pt-BR" sz="1800" dirty="0">
                <a:solidFill>
                  <a:srgbClr val="F0F0F5"/>
                </a:solidFill>
              </a:rPr>
              <a:t>Timer vs IO Interrupt</a:t>
            </a:r>
          </a:p>
          <a:p>
            <a:pPr marL="457200" indent="-457200">
              <a:lnSpc>
                <a:spcPts val="32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6C63FF"/>
                </a:solidFill>
              </a:rPr>
              <a:t>07  </a:t>
            </a:r>
            <a:r>
              <a:rPr lang="pt-BR" sz="1800" dirty="0">
                <a:solidFill>
                  <a:srgbClr val="F0F0F5"/>
                </a:solidFill>
              </a:rPr>
              <a:t>Código Prático (PlatformIO + ESP32)</a:t>
            </a:r>
          </a:p>
        </p:txBody>
      </p:sp>
    </p:spTree>
    <p:extLst>
      <p:ext uri="{BB962C8B-B14F-4D97-AF65-F5344CB8AC3E}">
        <p14:creationId xmlns:p14="http://schemas.microsoft.com/office/powerpoint/2010/main" val="23275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83862-42F8-2DD6-04A3-540B9579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Task Management na ESP32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D1F863-1E4E-DEB4-5127-213453E8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/>
              <a:t>FreeRTOS • Multitarefa • Concorrência vs Paralelismo</a:t>
            </a:r>
          </a:p>
        </p:txBody>
      </p:sp>
    </p:spTree>
    <p:extLst>
      <p:ext uri="{BB962C8B-B14F-4D97-AF65-F5344CB8AC3E}">
        <p14:creationId xmlns:p14="http://schemas.microsoft.com/office/powerpoint/2010/main" val="429345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27E61-00EB-6076-D6C5-7EC9F1BC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FreeRTOS na ESP32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32D4BF-69B6-61AF-3156-236233991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dirty="0">
                <a:solidFill>
                  <a:srgbClr val="B8B8CC"/>
                </a:solidFill>
              </a:rPr>
              <a:t>A ESP32 executa o </a:t>
            </a:r>
            <a:r>
              <a:rPr lang="pt-BR" sz="1600" b="1" dirty="0">
                <a:solidFill>
                  <a:srgbClr val="6C63FF"/>
                </a:solidFill>
              </a:rPr>
              <a:t>FreeRTOS</a:t>
            </a:r>
            <a:r>
              <a:rPr lang="pt-BR" sz="1600" dirty="0">
                <a:solidFill>
                  <a:srgbClr val="B8B8CC"/>
                </a:solidFill>
              </a:rPr>
              <a:t> nativamente, permitindo criar múltiplas tarefas independentes.</a:t>
            </a:r>
          </a:p>
          <a:p>
            <a:pPr marL="457200" indent="-228600">
              <a:spcBef>
                <a:spcPts val="300"/>
              </a:spcBef>
              <a:buFont typeface="Arial"/>
              <a:buChar char="▸"/>
            </a:pPr>
            <a:r>
              <a:rPr lang="pt-BR" sz="1600" dirty="0">
                <a:solidFill>
                  <a:srgbClr val="D0D0E0"/>
                </a:solidFill>
              </a:rPr>
              <a:t>Sistema operacional de tempo real (RTOS) embutido no ESP-IDF</a:t>
            </a:r>
          </a:p>
          <a:p>
            <a:pPr marL="457200" indent="-228600">
              <a:spcBef>
                <a:spcPts val="300"/>
              </a:spcBef>
              <a:buFont typeface="Arial"/>
              <a:buChar char="▸"/>
            </a:pPr>
            <a:r>
              <a:rPr lang="pt-BR" sz="1600" dirty="0">
                <a:solidFill>
                  <a:srgbClr val="D0D0E0"/>
                </a:solidFill>
              </a:rPr>
              <a:t>Dual-core: </a:t>
            </a:r>
            <a:r>
              <a:rPr lang="pt-BR" sz="1600" b="1" dirty="0">
                <a:solidFill>
                  <a:srgbClr val="00D9A6"/>
                </a:solidFill>
              </a:rPr>
              <a:t>PRO_CPU (Core 0)</a:t>
            </a:r>
            <a:r>
              <a:rPr lang="pt-BR" sz="1600" dirty="0">
                <a:solidFill>
                  <a:srgbClr val="D0D0E0"/>
                </a:solidFill>
              </a:rPr>
              <a:t> + </a:t>
            </a:r>
            <a:r>
              <a:rPr lang="pt-BR" sz="1600" b="1" dirty="0">
                <a:solidFill>
                  <a:srgbClr val="4ECDC4"/>
                </a:solidFill>
              </a:rPr>
              <a:t>APP_CPU (Core 1)</a:t>
            </a:r>
          </a:p>
          <a:p>
            <a:pPr marL="457200" indent="-228600">
              <a:spcBef>
                <a:spcPts val="300"/>
              </a:spcBef>
              <a:buFont typeface="Arial"/>
              <a:buChar char="▸"/>
            </a:pPr>
            <a:r>
              <a:rPr lang="pt-BR" sz="1600" dirty="0">
                <a:solidFill>
                  <a:srgbClr val="D0D0E0"/>
                </a:solidFill>
              </a:rPr>
              <a:t>Escalonador preemptivo com prioridades (0–25)</a:t>
            </a:r>
          </a:p>
          <a:p>
            <a:pPr marL="457200" indent="-228600">
              <a:spcBef>
                <a:spcPts val="300"/>
              </a:spcBef>
              <a:buFont typeface="Arial"/>
              <a:buChar char="▸"/>
            </a:pPr>
            <a:r>
              <a:rPr lang="pt-BR" sz="1600" dirty="0">
                <a:solidFill>
                  <a:srgbClr val="D0D0E0"/>
                </a:solidFill>
              </a:rPr>
              <a:t>Cada task tem seu próprio </a:t>
            </a:r>
            <a:r>
              <a:rPr lang="pt-BR" sz="1600" b="1" dirty="0">
                <a:solidFill>
                  <a:srgbClr val="FFC857"/>
                </a:solidFill>
                <a:latin typeface="Consolas"/>
              </a:rPr>
              <a:t>stack</a:t>
            </a:r>
            <a:r>
              <a:rPr lang="pt-BR" sz="1600" dirty="0">
                <a:solidFill>
                  <a:srgbClr val="D0D0E0"/>
                </a:solidFill>
              </a:rPr>
              <a:t>, prioridade e estado</a:t>
            </a:r>
          </a:p>
          <a:p>
            <a:pPr marL="457200" indent="-228600">
              <a:spcBef>
                <a:spcPts val="300"/>
              </a:spcBef>
              <a:buFont typeface="Arial"/>
              <a:buChar char="▸"/>
            </a:pPr>
            <a:r>
              <a:rPr lang="pt-BR" sz="1600" dirty="0">
                <a:solidFill>
                  <a:srgbClr val="D0D0E0"/>
                </a:solidFill>
              </a:rPr>
              <a:t>Arduino </a:t>
            </a:r>
            <a:r>
              <a:rPr lang="pt-BR" sz="1600" b="1" dirty="0">
                <a:solidFill>
                  <a:srgbClr val="FFC857"/>
                </a:solidFill>
                <a:latin typeface="Consolas"/>
              </a:rPr>
              <a:t>loop()</a:t>
            </a:r>
            <a:r>
              <a:rPr lang="pt-BR" sz="1600" dirty="0">
                <a:solidFill>
                  <a:srgbClr val="D0D0E0"/>
                </a:solidFill>
              </a:rPr>
              <a:t> roda como uma task do FreeRTOS no Core 1</a:t>
            </a:r>
          </a:p>
          <a:p>
            <a:pPr marL="457200" indent="-228600">
              <a:spcBef>
                <a:spcPts val="300"/>
              </a:spcBef>
              <a:buFont typeface="Arial"/>
              <a:buChar char="▸"/>
            </a:pPr>
            <a:r>
              <a:rPr lang="pt-BR" sz="1600" dirty="0">
                <a:solidFill>
                  <a:srgbClr val="D0D0E0"/>
                </a:solidFill>
              </a:rPr>
              <a:t>API principal: </a:t>
            </a:r>
            <a:r>
              <a:rPr lang="pt-BR" sz="1600" b="1" dirty="0">
                <a:solidFill>
                  <a:srgbClr val="6C63FF"/>
                </a:solidFill>
                <a:latin typeface="Consolas"/>
              </a:rPr>
              <a:t>xTaskCreatePinnedToCore()</a:t>
            </a:r>
          </a:p>
        </p:txBody>
      </p:sp>
    </p:spTree>
    <p:extLst>
      <p:ext uri="{BB962C8B-B14F-4D97-AF65-F5344CB8AC3E}">
        <p14:creationId xmlns:p14="http://schemas.microsoft.com/office/powerpoint/2010/main" val="2706640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764C7-98DD-5D94-86B2-1E99BA2E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Tasks vs Loop Tradicional</a:t>
            </a:r>
          </a:p>
        </p:txBody>
      </p:sp>
      <p:sp>
        <p:nvSpPr>
          <p:cNvPr id="10" name="LabelLoop"/>
          <p:cNvSpPr/>
          <p:nvPr/>
        </p:nvSpPr>
        <p:spPr>
          <a:xfrm>
            <a:off x="457200" y="1200000"/>
            <a:ext cx="4800000" cy="400000"/>
          </a:xfrm>
          <a:prstGeom prst="rect">
            <a:avLst/>
          </a:prstGeom>
          <a:solidFill>
            <a:srgbClr val="FF6B6B">
              <a:alpha val="3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600" b="1" dirty="0">
                <a:solidFill>
                  <a:srgbClr val="FFFFFF"/>
                </a:solidFill>
              </a:rPr>
              <a:t>Loop Tradicional (Sequencial)</a:t>
            </a:r>
          </a:p>
        </p:txBody>
      </p:sp>
      <p:sp>
        <p:nvSpPr>
          <p:cNvPr id="11" name="Step1"/>
          <p:cNvSpPr/>
          <p:nvPr/>
        </p:nvSpPr>
        <p:spPr>
          <a:xfrm>
            <a:off x="600000" y="1800000"/>
            <a:ext cx="4500000" cy="550000"/>
          </a:xfrm>
          <a:prstGeom prst="round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Ler Sensor
(bloqueado durante delay)</a:t>
            </a:r>
          </a:p>
        </p:txBody>
      </p:sp>
      <p:sp>
        <p:nvSpPr>
          <p:cNvPr id="12" name="Arrow1"/>
          <p:cNvSpPr/>
          <p:nvPr/>
        </p:nvSpPr>
        <p:spPr>
          <a:xfrm>
            <a:off x="2400000" y="2350000"/>
            <a:ext cx="900000" cy="250000"/>
          </a:xfrm>
          <a:prstGeom prst="downArrow">
            <a:avLst/>
          </a:prstGeom>
          <a:solidFill>
            <a:srgbClr val="FF6B6B">
              <a:alpha val="4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endParaRPr/>
          </a:p>
        </p:txBody>
      </p:sp>
      <p:sp>
        <p:nvSpPr>
          <p:cNvPr id="13" name="Step2"/>
          <p:cNvSpPr/>
          <p:nvPr/>
        </p:nvSpPr>
        <p:spPr>
          <a:xfrm>
            <a:off x="600000" y="2600000"/>
            <a:ext cx="4500000" cy="550000"/>
          </a:xfrm>
          <a:prstGeom prst="round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Atualizar Display
(espera anterior terminar)</a:t>
            </a:r>
          </a:p>
        </p:txBody>
      </p:sp>
      <p:sp>
        <p:nvSpPr>
          <p:cNvPr id="14" name="Arrow2"/>
          <p:cNvSpPr/>
          <p:nvPr/>
        </p:nvSpPr>
        <p:spPr>
          <a:xfrm>
            <a:off x="2400000" y="3150000"/>
            <a:ext cx="900000" cy="250000"/>
          </a:xfrm>
          <a:prstGeom prst="downArrow">
            <a:avLst/>
          </a:prstGeom>
          <a:solidFill>
            <a:srgbClr val="FF6B6B">
              <a:alpha val="4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endParaRPr/>
          </a:p>
        </p:txBody>
      </p:sp>
      <p:sp>
        <p:nvSpPr>
          <p:cNvPr id="15" name="Step3"/>
          <p:cNvSpPr/>
          <p:nvPr/>
        </p:nvSpPr>
        <p:spPr>
          <a:xfrm>
            <a:off x="600000" y="3400000"/>
            <a:ext cx="4500000" cy="550000"/>
          </a:xfrm>
          <a:prstGeom prst="round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Enviar WiFi
(tudo parado)</a:t>
            </a:r>
          </a:p>
        </p:txBody>
      </p:sp>
      <p:sp>
        <p:nvSpPr>
          <p:cNvPr id="20" name="LabelTasks"/>
          <p:cNvSpPr/>
          <p:nvPr/>
        </p:nvSpPr>
        <p:spPr>
          <a:xfrm>
            <a:off x="6600000" y="1200000"/>
            <a:ext cx="4800000" cy="400000"/>
          </a:xfrm>
          <a:prstGeom prst="rect">
            <a:avLst/>
          </a:prstGeom>
          <a:solidFill>
            <a:srgbClr val="00D9A6">
              <a:alpha val="3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600" b="1" dirty="0">
                <a:solidFill>
                  <a:srgbClr val="FFFFFF"/>
                </a:solidFill>
              </a:rPr>
              <a:t>FreeRTOS Tasks (Paralelo)</a:t>
            </a:r>
          </a:p>
        </p:txBody>
      </p:sp>
      <p:sp>
        <p:nvSpPr>
          <p:cNvPr id="21" name="Task1"/>
          <p:cNvSpPr/>
          <p:nvPr/>
        </p:nvSpPr>
        <p:spPr>
          <a:xfrm>
            <a:off x="6750000" y="1800000"/>
            <a:ext cx="4500000" cy="900000"/>
          </a:xfrm>
          <a:prstGeom prst="roundRect">
            <a:avLst/>
          </a:prstGeom>
          <a:solidFill>
            <a:srgbClr val="6C63FF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Task 1: Ler Sensor
Executa independente
Prioridade: Alta</a:t>
            </a:r>
          </a:p>
        </p:txBody>
      </p:sp>
      <p:sp>
        <p:nvSpPr>
          <p:cNvPr id="22" name="Task2"/>
          <p:cNvSpPr/>
          <p:nvPr/>
        </p:nvSpPr>
        <p:spPr>
          <a:xfrm>
            <a:off x="6750000" y="2900000"/>
            <a:ext cx="4500000" cy="900000"/>
          </a:xfrm>
          <a:prstGeom prst="roundRect">
            <a:avLst/>
          </a:prstGeom>
          <a:solidFill>
            <a:srgbClr val="00D9A6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Task 2: Atualizar Display
Executa independente
Prioridade: M&amp;#xE9;dia</a:t>
            </a:r>
          </a:p>
        </p:txBody>
      </p:sp>
      <p:sp>
        <p:nvSpPr>
          <p:cNvPr id="23" name="Task3"/>
          <p:cNvSpPr/>
          <p:nvPr/>
        </p:nvSpPr>
        <p:spPr>
          <a:xfrm>
            <a:off x="6750000" y="4000000"/>
            <a:ext cx="4500000" cy="900000"/>
          </a:xfrm>
          <a:prstGeom prst="roundRect">
            <a:avLst/>
          </a:prstGeom>
          <a:solidFill>
            <a:srgbClr val="4ECDC4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Task 3: Enviar WiFi
Executa independente
Prioridade: Baixa</a:t>
            </a:r>
          </a:p>
        </p:txBody>
      </p:sp>
      <p:sp>
        <p:nvSpPr>
          <p:cNvPr id="30" name="VS"/>
          <p:cNvSpPr/>
          <p:nvPr/>
        </p:nvSpPr>
        <p:spPr>
          <a:xfrm>
            <a:off x="5500000" y="3000000"/>
            <a:ext cx="900000" cy="5000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2000" b="1" dirty="0">
                <a:solidFill>
                  <a:srgbClr val="12131A"/>
                </a:solidFill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15033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5A0F0-D8F3-4A9B-2FE2-19C0513C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Concorrência vs Paralelismo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6C539D-D347-93FD-7654-E6ECD6845C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6C63FF"/>
                </a:solidFill>
              </a:rPr>
              <a:t>Concorrência</a:t>
            </a:r>
          </a:p>
          <a:p>
            <a:pPr algn="ctr">
              <a:buNone/>
            </a:pPr>
            <a:r>
              <a:rPr lang="pt-BR" sz="1400" dirty="0">
                <a:solidFill>
                  <a:srgbClr val="B8B8CC"/>
                </a:solidFill>
              </a:rPr>
              <a:t>1 núcleo, múltiplas tarefas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Tasks alternam rapidamente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Ilusão de simultaneidade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Time-slicing do scheduler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Exemplo: ESP8266 (single-core)</a:t>
            </a:r>
          </a:p>
          <a:p>
            <a:pPr algn="ctr">
              <a:buNone/>
            </a:pPr>
            <a:r>
              <a:rPr lang="pt-BR" sz="2800" dirty="0">
                <a:solidFill>
                  <a:srgbClr val="6C63FF"/>
                </a:solidFill>
              </a:rPr>
              <a:t>A → B → A → B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48480F-A8C2-57AB-0DFA-06037304C5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00D9A6"/>
                </a:solidFill>
              </a:rPr>
              <a:t>Paralelismo</a:t>
            </a:r>
          </a:p>
          <a:p>
            <a:pPr algn="ctr">
              <a:buNone/>
            </a:pPr>
            <a:r>
              <a:rPr lang="pt-BR" sz="1400" dirty="0">
                <a:solidFill>
                  <a:srgbClr val="B8B8CC"/>
                </a:solidFill>
              </a:rPr>
              <a:t>2 núcleos, execução simultânea real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Tasks executam ao mesmo tempo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Verdadeira simultaneidade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Requer hardware multi-core</a:t>
            </a:r>
          </a:p>
          <a:p>
            <a:pPr marL="342900" indent="-228600">
              <a:spcBef>
                <a:spcPts val="200"/>
              </a:spcBef>
              <a:buFont typeface="Arial"/>
              <a:buChar char="▸"/>
            </a:pPr>
            <a:r>
              <a:rPr lang="pt-BR" sz="1400" b="1" dirty="0">
                <a:solidFill>
                  <a:srgbClr val="00D9A6"/>
                </a:solidFill>
              </a:rPr>
              <a:t>ESP32 = dual-core!</a:t>
            </a:r>
          </a:p>
          <a:p>
            <a:pPr algn="ctr">
              <a:buNone/>
            </a:pPr>
            <a:r>
              <a:rPr lang="pt-BR" sz="2800" dirty="0">
                <a:solidFill>
                  <a:srgbClr val="00D9A6"/>
                </a:solidFill>
              </a:rPr>
              <a:t>A + B (simultâneo)</a:t>
            </a:r>
          </a:p>
        </p:txBody>
      </p:sp>
    </p:spTree>
    <p:extLst>
      <p:ext uri="{BB962C8B-B14F-4D97-AF65-F5344CB8AC3E}">
        <p14:creationId xmlns:p14="http://schemas.microsoft.com/office/powerpoint/2010/main" val="150949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EA2D1-0D96-AC83-5C91-2D5E9ABF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Quando Usar Multitarefa?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2D8739-4989-2D2A-77A3-6CF44FD0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b="1" dirty="0">
                <a:solidFill>
                  <a:srgbClr val="00D9A6"/>
                </a:solidFill>
              </a:rPr>
              <a:t>✔ Use multitarefa quando:</a:t>
            </a:r>
          </a:p>
          <a:p>
            <a:pPr marL="457200" indent="-228600">
              <a:spcBef>
                <a:spcPts val="200"/>
              </a:spcBef>
              <a:buFont typeface="Arial"/>
              <a:buChar char="▸"/>
            </a:pPr>
            <a:r>
              <a:rPr lang="pt-BR" sz="1500" dirty="0">
                <a:solidFill>
                  <a:srgbClr val="D0D0E0"/>
                </a:solidFill>
              </a:rPr>
              <a:t>Precisa ler sensores E comunicar WiFi simultaneamente</a:t>
            </a:r>
          </a:p>
          <a:p>
            <a:pPr marL="457200" indent="-228600">
              <a:spcBef>
                <a:spcPts val="200"/>
              </a:spcBef>
              <a:buFont typeface="Arial"/>
              <a:buChar char="▸"/>
            </a:pPr>
            <a:r>
              <a:rPr lang="pt-BR" sz="1500" dirty="0">
                <a:solidFill>
                  <a:srgbClr val="D0D0E0"/>
                </a:solidFill>
              </a:rPr>
              <a:t>Tarefas com períodos diferentes (100ms, 1s, 5s)</a:t>
            </a:r>
          </a:p>
          <a:p>
            <a:pPr marL="457200" indent="-228600">
              <a:spcBef>
                <a:spcPts val="200"/>
              </a:spcBef>
              <a:buFont typeface="Arial"/>
              <a:buChar char="▸"/>
            </a:pPr>
            <a:r>
              <a:rPr lang="pt-BR" sz="1500" dirty="0">
                <a:solidFill>
                  <a:srgbClr val="D0D0E0"/>
                </a:solidFill>
              </a:rPr>
              <a:t>Uma operação lenta não pode travar as outras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FF6B6B"/>
                </a:solidFill>
              </a:rPr>
              <a:t>✘ Evite multitarefa quando:</a:t>
            </a:r>
          </a:p>
          <a:p>
            <a:pPr marL="457200" indent="-228600">
              <a:spcBef>
                <a:spcPts val="200"/>
              </a:spcBef>
              <a:buFont typeface="Arial"/>
              <a:buChar char="▸"/>
            </a:pPr>
            <a:r>
              <a:rPr lang="pt-BR" sz="1500" dirty="0">
                <a:solidFill>
                  <a:srgbClr val="D0D0E0"/>
                </a:solidFill>
              </a:rPr>
              <a:t>Projeto simples com uma única lógica sequencial</a:t>
            </a:r>
          </a:p>
          <a:p>
            <a:pPr marL="457200" indent="-228600">
              <a:spcBef>
                <a:spcPts val="200"/>
              </a:spcBef>
              <a:buFont typeface="Arial"/>
              <a:buChar char="▸"/>
            </a:pPr>
            <a:r>
              <a:rPr lang="pt-BR" sz="1500" dirty="0">
                <a:solidFill>
                  <a:srgbClr val="D0D0E0"/>
                </a:solidFill>
              </a:rPr>
              <a:t>RAM limitada (cada task consome ~2-8KB de stack)</a:t>
            </a:r>
          </a:p>
          <a:p>
            <a:pPr marL="457200" indent="-228600">
              <a:spcBef>
                <a:spcPts val="200"/>
              </a:spcBef>
              <a:buFont typeface="Arial"/>
              <a:buChar char="▸"/>
            </a:pPr>
            <a:r>
              <a:rPr lang="pt-BR" sz="1500" dirty="0">
                <a:solidFill>
                  <a:srgbClr val="D0D0E0"/>
                </a:solidFill>
              </a:rPr>
              <a:t>millis() + máquina de estados já resolve o problema</a:t>
            </a:r>
          </a:p>
        </p:txBody>
      </p:sp>
    </p:spTree>
    <p:extLst>
      <p:ext uri="{BB962C8B-B14F-4D97-AF65-F5344CB8AC3E}">
        <p14:creationId xmlns:p14="http://schemas.microsoft.com/office/powerpoint/2010/main" val="1144729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F2E78-4A95-A8DF-A4A8-4F19DD84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O Problema do delay()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9AF9F4-D20E-59BD-C36F-F626C497B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/>
              <a:t>Bloqueio de execução • Impacto em sistemas reativos</a:t>
            </a:r>
          </a:p>
        </p:txBody>
      </p:sp>
    </p:spTree>
    <p:extLst>
      <p:ext uri="{BB962C8B-B14F-4D97-AF65-F5344CB8AC3E}">
        <p14:creationId xmlns:p14="http://schemas.microsoft.com/office/powerpoint/2010/main" val="1660337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CA2E6-60C6-BC55-1793-006B0DF4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Por Que delay() é Prejudicial?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C9D95E-9515-A171-9402-C75933C31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>
                <a:solidFill>
                  <a:srgbClr val="B8B8CC"/>
                </a:solidFill>
              </a:rPr>
              <a:t>O </a:t>
            </a:r>
            <a:r>
              <a:rPr lang="pt-BR" sz="1500" b="1" dirty="0">
                <a:solidFill>
                  <a:srgbClr val="FF6B6B"/>
                </a:solidFill>
                <a:latin typeface="Consolas"/>
              </a:rPr>
              <a:t>delay()</a:t>
            </a:r>
            <a:r>
              <a:rPr lang="pt-BR" sz="1500" dirty="0">
                <a:solidFill>
                  <a:srgbClr val="B8B8CC"/>
                </a:solidFill>
              </a:rPr>
              <a:t> é uma função </a:t>
            </a:r>
            <a:r>
              <a:rPr lang="pt-BR" sz="1500" b="1" dirty="0">
                <a:solidFill>
                  <a:srgbClr val="FF6B6B"/>
                </a:solidFill>
              </a:rPr>
              <a:t>bloqueante</a:t>
            </a:r>
            <a:r>
              <a:rPr lang="pt-BR" sz="1500" dirty="0">
                <a:solidFill>
                  <a:srgbClr val="B8B8CC"/>
                </a:solidFill>
              </a:rPr>
              <a:t>: para TODO o processamento.</a:t>
            </a:r>
          </a:p>
          <a:p>
            <a:pPr marL="457200" indent="-228600">
              <a:spcBef>
                <a:spcPts val="200"/>
              </a:spcBef>
              <a:buFont typeface="Arial"/>
              <a:buChar char="✖"/>
            </a:pPr>
            <a:r>
              <a:rPr lang="pt-BR" sz="1500" dirty="0">
                <a:solidFill>
                  <a:srgbClr val="FF6B6B"/>
                </a:solidFill>
              </a:rPr>
              <a:t>CPU fica em busy-wait (não faz NADA)</a:t>
            </a:r>
          </a:p>
          <a:p>
            <a:pPr marL="457200" indent="-228600">
              <a:spcBef>
                <a:spcPts val="200"/>
              </a:spcBef>
              <a:buFont typeface="Arial"/>
              <a:buChar char="✖"/>
            </a:pPr>
            <a:r>
              <a:rPr lang="pt-BR" sz="1500" dirty="0">
                <a:solidFill>
                  <a:srgbClr val="FF6B6B"/>
                </a:solidFill>
              </a:rPr>
              <a:t>Sensores não são lidos durante o delay</a:t>
            </a:r>
          </a:p>
          <a:p>
            <a:pPr marL="457200" indent="-228600">
              <a:spcBef>
                <a:spcPts val="200"/>
              </a:spcBef>
              <a:buFont typeface="Arial"/>
              <a:buChar char="✖"/>
            </a:pPr>
            <a:r>
              <a:rPr lang="pt-BR" sz="1500" dirty="0">
                <a:solidFill>
                  <a:srgbClr val="FF6B6B"/>
                </a:solidFill>
              </a:rPr>
              <a:t>Comunicação serial/WiFi fica sem resposta</a:t>
            </a:r>
          </a:p>
          <a:p>
            <a:pPr marL="457200" indent="-228600">
              <a:spcBef>
                <a:spcPts val="200"/>
              </a:spcBef>
              <a:buFont typeface="Arial"/>
              <a:buChar char="✖"/>
            </a:pPr>
            <a:r>
              <a:rPr lang="pt-BR" sz="1500" dirty="0">
                <a:solidFill>
                  <a:srgbClr val="FF6B6B"/>
                </a:solidFill>
              </a:rPr>
              <a:t>Botões e entradas são ignorados</a:t>
            </a:r>
          </a:p>
          <a:p>
            <a:pPr marL="457200" indent="-228600">
              <a:spcBef>
                <a:spcPts val="200"/>
              </a:spcBef>
              <a:buFont typeface="Arial"/>
              <a:buChar char="✖"/>
            </a:pPr>
            <a:r>
              <a:rPr lang="pt-BR" sz="1500" dirty="0">
                <a:solidFill>
                  <a:srgbClr val="FF6B6B"/>
                </a:solidFill>
              </a:rPr>
              <a:t>Impossível gerenciar múltiplas tarefas com tempos diferentes</a:t>
            </a:r>
          </a:p>
          <a:p>
            <a:pPr marL="457200" indent="-228600">
              <a:spcBef>
                <a:spcPts val="200"/>
              </a:spcBef>
              <a:buFont typeface="Arial"/>
              <a:buChar char="✖"/>
            </a:pPr>
            <a:r>
              <a:rPr lang="pt-BR" sz="1500" dirty="0">
                <a:solidFill>
                  <a:srgbClr val="FF6B6B"/>
                </a:solidFill>
              </a:rPr>
              <a:t>Watchdog Timer pode resetar o ESP32</a:t>
            </a:r>
          </a:p>
          <a:p>
            <a:pPr marL="0" indent="0">
              <a:buNone/>
            </a:pPr>
            <a:r>
              <a:rPr lang="pt-BR" sz="1500" b="1" dirty="0">
                <a:solidFill>
                  <a:srgbClr val="FFC857"/>
                </a:solidFill>
              </a:rPr>
              <a:t>⚠ delay(1000) = 1 segundo de CPU desperdiçada!</a:t>
            </a:r>
          </a:p>
        </p:txBody>
      </p:sp>
    </p:spTree>
    <p:extLst>
      <p:ext uri="{BB962C8B-B14F-4D97-AF65-F5344CB8AC3E}">
        <p14:creationId xmlns:p14="http://schemas.microsoft.com/office/powerpoint/2010/main" val="507599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6D011-A2DA-F234-B92A-A97EAA16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Linha do Tempo: delay() vs Não-Bloqueante</a:t>
            </a:r>
          </a:p>
        </p:txBody>
      </p:sp>
      <p:sp>
        <p:nvSpPr>
          <p:cNvPr id="10" name="L1"/>
          <p:cNvSpPr/>
          <p:nvPr/>
        </p:nvSpPr>
        <p:spPr>
          <a:xfrm>
            <a:off x="300000" y="1400000"/>
            <a:ext cx="1800000" cy="40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pt-BR" sz="1400" b="1" dirty="0">
                <a:solidFill>
                  <a:srgbClr val="FF6B6B"/>
                </a:solidFill>
              </a:rPr>
              <a:t>COM delay()</a:t>
            </a:r>
          </a:p>
        </p:txBody>
      </p:sp>
      <p:sp>
        <p:nvSpPr>
          <p:cNvPr id="11" name="R1"/>
          <p:cNvSpPr/>
          <p:nvPr/>
        </p:nvSpPr>
        <p:spPr>
          <a:xfrm>
            <a:off x="2200000" y="1400000"/>
            <a:ext cx="1800000" cy="350000"/>
          </a:xfrm>
          <a:prstGeom prst="roundRect">
            <a:avLst/>
          </a:prstGeom>
          <a:solidFill>
            <a:srgbClr val="6C63FF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Ler Sensor</a:t>
            </a:r>
          </a:p>
        </p:txBody>
      </p:sp>
      <p:sp>
        <p:nvSpPr>
          <p:cNvPr id="12" name="D1"/>
          <p:cNvSpPr/>
          <p:nvPr/>
        </p:nvSpPr>
        <p:spPr>
          <a:xfrm>
            <a:off x="4000000" y="1400000"/>
            <a:ext cx="2400000" cy="350000"/>
          </a:xfrm>
          <a:prstGeom prst="round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b="1" dirty="0">
                <a:solidFill>
                  <a:srgbClr val="FFFFFF"/>
                </a:solidFill>
              </a:rPr>
              <a:t>delay(1000) - BLOQUEADO</a:t>
            </a:r>
          </a:p>
        </p:txBody>
      </p:sp>
      <p:sp>
        <p:nvSpPr>
          <p:cNvPr id="13" name="R2"/>
          <p:cNvSpPr/>
          <p:nvPr/>
        </p:nvSpPr>
        <p:spPr>
          <a:xfrm>
            <a:off x="6400000" y="1400000"/>
            <a:ext cx="1800000" cy="350000"/>
          </a:xfrm>
          <a:prstGeom prst="roundRect">
            <a:avLst/>
          </a:prstGeom>
          <a:solidFill>
            <a:srgbClr val="00D9A6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Atualizar LED</a:t>
            </a:r>
          </a:p>
        </p:txBody>
      </p:sp>
      <p:sp>
        <p:nvSpPr>
          <p:cNvPr id="14" name="D2"/>
          <p:cNvSpPr/>
          <p:nvPr/>
        </p:nvSpPr>
        <p:spPr>
          <a:xfrm>
            <a:off x="8200000" y="1400000"/>
            <a:ext cx="2400000" cy="350000"/>
          </a:xfrm>
          <a:prstGeom prst="round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b="1" dirty="0">
                <a:solidFill>
                  <a:srgbClr val="FFFFFF"/>
                </a:solidFill>
              </a:rPr>
              <a:t>delay(500) - BLOQUEADO</a:t>
            </a:r>
          </a:p>
        </p:txBody>
      </p:sp>
      <p:sp>
        <p:nvSpPr>
          <p:cNvPr id="15" name="T0"/>
          <p:cNvSpPr/>
          <p:nvPr/>
        </p:nvSpPr>
        <p:spPr>
          <a:xfrm>
            <a:off x="2200000" y="17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100" dirty="0">
                <a:solidFill>
                  <a:srgbClr val="888899"/>
                </a:solidFill>
              </a:rPr>
              <a:t>0ms</a:t>
            </a:r>
          </a:p>
        </p:txBody>
      </p:sp>
      <p:sp>
        <p:nvSpPr>
          <p:cNvPr id="16" name="T1"/>
          <p:cNvSpPr/>
          <p:nvPr/>
        </p:nvSpPr>
        <p:spPr>
          <a:xfrm>
            <a:off x="4000000" y="17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100" dirty="0">
                <a:solidFill>
                  <a:srgbClr val="888899"/>
                </a:solidFill>
              </a:rPr>
              <a:t>100ms</a:t>
            </a:r>
          </a:p>
        </p:txBody>
      </p:sp>
      <p:sp>
        <p:nvSpPr>
          <p:cNvPr id="17" name="T2"/>
          <p:cNvSpPr/>
          <p:nvPr/>
        </p:nvSpPr>
        <p:spPr>
          <a:xfrm>
            <a:off x="6400000" y="17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100" dirty="0">
                <a:solidFill>
                  <a:srgbClr val="888899"/>
                </a:solidFill>
              </a:rPr>
              <a:t>1100ms</a:t>
            </a:r>
          </a:p>
        </p:txBody>
      </p:sp>
      <p:sp>
        <p:nvSpPr>
          <p:cNvPr id="18" name="T3"/>
          <p:cNvSpPr/>
          <p:nvPr/>
        </p:nvSpPr>
        <p:spPr>
          <a:xfrm>
            <a:off x="8200000" y="17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100" dirty="0">
                <a:solidFill>
                  <a:srgbClr val="888899"/>
                </a:solidFill>
              </a:rPr>
              <a:t>1200ms</a:t>
            </a:r>
          </a:p>
        </p:txBody>
      </p:sp>
      <p:sp>
        <p:nvSpPr>
          <p:cNvPr id="19" name="Div"/>
          <p:cNvSpPr/>
          <p:nvPr/>
        </p:nvSpPr>
        <p:spPr>
          <a:xfrm>
            <a:off x="300000" y="2400000"/>
            <a:ext cx="10800000" cy="20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800" dirty="0">
                <a:solidFill>
                  <a:srgbClr val="444466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0" name="L2"/>
          <p:cNvSpPr/>
          <p:nvPr/>
        </p:nvSpPr>
        <p:spPr>
          <a:xfrm>
            <a:off x="300000" y="2800000"/>
            <a:ext cx="1800000" cy="40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pt-BR" sz="1400" b="1" dirty="0">
                <a:solidFill>
                  <a:srgbClr val="00D9A6"/>
                </a:solidFill>
              </a:rPr>
              <a:t>SEM delay()</a:t>
            </a:r>
          </a:p>
        </p:txBody>
      </p:sp>
      <p:sp>
        <p:nvSpPr>
          <p:cNvPr id="21" name="NB1"/>
          <p:cNvSpPr/>
          <p:nvPr/>
        </p:nvSpPr>
        <p:spPr>
          <a:xfrm>
            <a:off x="2200000" y="2800000"/>
            <a:ext cx="800000" cy="350000"/>
          </a:xfrm>
          <a:prstGeom prst="roundRect">
            <a:avLst/>
          </a:prstGeom>
          <a:solidFill>
            <a:srgbClr val="6C63FF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2" name="NB2"/>
          <p:cNvSpPr/>
          <p:nvPr/>
        </p:nvSpPr>
        <p:spPr>
          <a:xfrm>
            <a:off x="3050000" y="2800000"/>
            <a:ext cx="800000" cy="350000"/>
          </a:xfrm>
          <a:prstGeom prst="roundRect">
            <a:avLst/>
          </a:prstGeom>
          <a:solidFill>
            <a:srgbClr val="00D9A6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LED</a:t>
            </a:r>
          </a:p>
        </p:txBody>
      </p:sp>
      <p:sp>
        <p:nvSpPr>
          <p:cNvPr id="23" name="NB3"/>
          <p:cNvSpPr/>
          <p:nvPr/>
        </p:nvSpPr>
        <p:spPr>
          <a:xfrm>
            <a:off x="3900000" y="2800000"/>
            <a:ext cx="800000" cy="350000"/>
          </a:xfrm>
          <a:prstGeom prst="roundRect">
            <a:avLst/>
          </a:prstGeom>
          <a:solidFill>
            <a:srgbClr val="4ECDC4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WiFi</a:t>
            </a:r>
          </a:p>
        </p:txBody>
      </p:sp>
      <p:sp>
        <p:nvSpPr>
          <p:cNvPr id="24" name="NB4"/>
          <p:cNvSpPr/>
          <p:nvPr/>
        </p:nvSpPr>
        <p:spPr>
          <a:xfrm>
            <a:off x="4750000" y="2800000"/>
            <a:ext cx="800000" cy="350000"/>
          </a:xfrm>
          <a:prstGeom prst="roundRect">
            <a:avLst/>
          </a:prstGeom>
          <a:solidFill>
            <a:srgbClr val="6C63FF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5" name="NB5"/>
          <p:cNvSpPr/>
          <p:nvPr/>
        </p:nvSpPr>
        <p:spPr>
          <a:xfrm>
            <a:off x="5600000" y="2800000"/>
            <a:ext cx="800000" cy="350000"/>
          </a:xfrm>
          <a:prstGeom prst="roundRect">
            <a:avLst/>
          </a:prstGeom>
          <a:solidFill>
            <a:srgbClr val="00D9A6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LED</a:t>
            </a:r>
          </a:p>
        </p:txBody>
      </p:sp>
      <p:sp>
        <p:nvSpPr>
          <p:cNvPr id="26" name="NB6"/>
          <p:cNvSpPr/>
          <p:nvPr/>
        </p:nvSpPr>
        <p:spPr>
          <a:xfrm>
            <a:off x="6450000" y="2800000"/>
            <a:ext cx="800000" cy="350000"/>
          </a:xfrm>
          <a:prstGeom prst="roundRect">
            <a:avLst/>
          </a:prstGeom>
          <a:solidFill>
            <a:srgbClr val="4ECDC4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WiFi</a:t>
            </a:r>
          </a:p>
        </p:txBody>
      </p:sp>
      <p:sp>
        <p:nvSpPr>
          <p:cNvPr id="27" name="NB7"/>
          <p:cNvSpPr/>
          <p:nvPr/>
        </p:nvSpPr>
        <p:spPr>
          <a:xfrm>
            <a:off x="7300000" y="2800000"/>
            <a:ext cx="800000" cy="350000"/>
          </a:xfrm>
          <a:prstGeom prst="roundRect">
            <a:avLst/>
          </a:prstGeom>
          <a:solidFill>
            <a:srgbClr val="6C63FF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Sensor</a:t>
            </a:r>
          </a:p>
        </p:txBody>
      </p:sp>
      <p:sp>
        <p:nvSpPr>
          <p:cNvPr id="28" name="NB8"/>
          <p:cNvSpPr/>
          <p:nvPr/>
        </p:nvSpPr>
        <p:spPr>
          <a:xfrm>
            <a:off x="8150000" y="2800000"/>
            <a:ext cx="800000" cy="350000"/>
          </a:xfrm>
          <a:prstGeom prst="roundRect">
            <a:avLst/>
          </a:prstGeom>
          <a:solidFill>
            <a:srgbClr val="FFC857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12131A"/>
                </a:solidFill>
              </a:rPr>
              <a:t>Serial</a:t>
            </a:r>
          </a:p>
        </p:txBody>
      </p:sp>
      <p:sp>
        <p:nvSpPr>
          <p:cNvPr id="29" name="NB9"/>
          <p:cNvSpPr/>
          <p:nvPr/>
        </p:nvSpPr>
        <p:spPr>
          <a:xfrm>
            <a:off x="9000000" y="2800000"/>
            <a:ext cx="800000" cy="350000"/>
          </a:xfrm>
          <a:prstGeom prst="roundRect">
            <a:avLst/>
          </a:prstGeom>
          <a:solidFill>
            <a:srgbClr val="00D9A6">
              <a:alpha val="80000"/>
            </a:srgbClr>
          </a:solidFill>
          <a:ln>
            <a:noFill/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LED</a:t>
            </a:r>
          </a:p>
        </p:txBody>
      </p:sp>
      <p:sp>
        <p:nvSpPr>
          <p:cNvPr id="30" name="T4"/>
          <p:cNvSpPr/>
          <p:nvPr/>
        </p:nvSpPr>
        <p:spPr>
          <a:xfrm>
            <a:off x="2200000" y="31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100" dirty="0">
                <a:solidFill>
                  <a:srgbClr val="888899"/>
                </a:solidFill>
              </a:rPr>
              <a:t>0ms</a:t>
            </a:r>
          </a:p>
        </p:txBody>
      </p:sp>
      <p:sp>
        <p:nvSpPr>
          <p:cNvPr id="31" name="T5"/>
          <p:cNvSpPr/>
          <p:nvPr/>
        </p:nvSpPr>
        <p:spPr>
          <a:xfrm>
            <a:off x="5600000" y="31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100" dirty="0">
                <a:solidFill>
                  <a:srgbClr val="888899"/>
                </a:solidFill>
              </a:rPr>
              <a:t>100ms</a:t>
            </a:r>
          </a:p>
        </p:txBody>
      </p:sp>
      <p:sp>
        <p:nvSpPr>
          <p:cNvPr id="32" name="T6"/>
          <p:cNvSpPr/>
          <p:nvPr/>
        </p:nvSpPr>
        <p:spPr>
          <a:xfrm>
            <a:off x="9000000" y="31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100" dirty="0">
                <a:solidFill>
                  <a:srgbClr val="888899"/>
                </a:solidFill>
              </a:rPr>
              <a:t>200ms</a:t>
            </a:r>
          </a:p>
        </p:txBody>
      </p:sp>
      <p:sp>
        <p:nvSpPr>
          <p:cNvPr id="40" name="Conc1"/>
          <p:cNvSpPr/>
          <p:nvPr/>
        </p:nvSpPr>
        <p:spPr>
          <a:xfrm>
            <a:off x="500000" y="39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400" b="1" dirty="0">
                <a:solidFill>
                  <a:srgbClr val="FF6B6B"/>
                </a:solidFill>
              </a:rPr>
              <a:t>CPU ociosa por longos períodos</a:t>
            </a:r>
          </a:p>
        </p:txBody>
      </p:sp>
      <p:sp>
        <p:nvSpPr>
          <p:cNvPr id="41" name="Conc2"/>
          <p:cNvSpPr/>
          <p:nvPr/>
        </p:nvSpPr>
        <p:spPr>
          <a:xfrm>
            <a:off x="6000000" y="39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400" b="1" dirty="0">
                <a:solidFill>
                  <a:srgbClr val="00D9A6"/>
                </a:solidFill>
              </a:rPr>
              <a:t>CPU sempre produtiva, reativa</a:t>
            </a:r>
          </a:p>
        </p:txBody>
      </p:sp>
      <p:sp>
        <p:nvSpPr>
          <p:cNvPr id="42" name="Arr1"/>
          <p:cNvSpPr/>
          <p:nvPr/>
        </p:nvSpPr>
        <p:spPr>
          <a:xfrm>
            <a:off x="500000" y="42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200" dirty="0">
                <a:solidFill>
                  <a:srgbClr val="FF6B6B"/>
                </a:solidFill>
              </a:rPr>
              <a:t>↑ Bloqueante</a:t>
            </a:r>
          </a:p>
        </p:txBody>
      </p:sp>
      <p:sp>
        <p:nvSpPr>
          <p:cNvPr id="43" name="Arr2"/>
          <p:cNvSpPr/>
          <p:nvPr/>
        </p:nvSpPr>
        <p:spPr>
          <a:xfrm>
            <a:off x="6000000" y="42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200" dirty="0">
                <a:solidFill>
                  <a:srgbClr val="00D9A6"/>
                </a:solidFill>
              </a:rPr>
              <a:t>↑ Não-bloqueante</a:t>
            </a:r>
          </a:p>
        </p:txBody>
      </p:sp>
    </p:spTree>
    <p:extLst>
      <p:ext uri="{BB962C8B-B14F-4D97-AF65-F5344CB8AC3E}">
        <p14:creationId xmlns:p14="http://schemas.microsoft.com/office/powerpoint/2010/main" val="157766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60C10-5C83-921A-A967-CEBDB181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Código: delay() vs millis()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110F74-C691-9B37-1CBD-85CD22B686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FF6B6B"/>
                </a:solidFill>
              </a:rPr>
              <a:t>✘ Com delay()</a:t>
            </a:r>
          </a:p>
          <a:p>
            <a:pPr algn="l">
              <a:buNone/>
            </a:pPr>
            <a:r>
              <a:rPr lang="pt-BR" sz="12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FFC857"/>
                </a:solidFill>
                <a:latin typeface="Consolas"/>
              </a:rPr>
              <a:t>loop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() {</a:t>
            </a:r>
          </a:p>
          <a:p>
            <a:pPr algn="l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digitalWrite(LED, HIGH);</a:t>
            </a:r>
          </a:p>
          <a:p>
            <a:pPr algn="l">
              <a:buNone/>
            </a:pPr>
            <a:r>
              <a:rPr lang="pt-BR" sz="1200" b="1" dirty="0">
                <a:solidFill>
                  <a:srgbClr val="FF6B6B"/>
                </a:solidFill>
                <a:latin typeface="Consolas"/>
              </a:rPr>
              <a:t>  delay(1000);</a:t>
            </a:r>
            <a:r>
              <a:rPr lang="pt-BR" sz="1100" dirty="0">
                <a:solidFill>
                  <a:srgbClr val="666688"/>
                </a:solidFill>
                <a:latin typeface="Consolas"/>
              </a:rPr>
              <a:t> // TRAVA!</a:t>
            </a:r>
          </a:p>
          <a:p>
            <a:pPr algn="l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digitalWrite(LED, LOW);</a:t>
            </a:r>
          </a:p>
          <a:p>
            <a:pPr algn="l">
              <a:buNone/>
            </a:pPr>
            <a:r>
              <a:rPr lang="pt-BR" sz="1200" b="1" dirty="0">
                <a:solidFill>
                  <a:srgbClr val="FF6B6B"/>
                </a:solidFill>
                <a:latin typeface="Consolas"/>
              </a:rPr>
              <a:t>  delay(1000);</a:t>
            </a:r>
            <a:r>
              <a:rPr lang="pt-BR" sz="1100" dirty="0">
                <a:solidFill>
                  <a:srgbClr val="666688"/>
                </a:solidFill>
                <a:latin typeface="Consolas"/>
              </a:rPr>
              <a:t> // TRAVA!</a:t>
            </a:r>
          </a:p>
          <a:p>
            <a:pPr algn="l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200" dirty="0">
                <a:solidFill>
                  <a:srgbClr val="FF6B6B"/>
                </a:solidFill>
              </a:rPr>
              <a:t>2s de CPU desperdiçada por ciclo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84A859-DDC6-609B-1B5E-42AE1B4AF8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1600" b="1" dirty="0">
                <a:solidFill>
                  <a:srgbClr val="00D9A6"/>
                </a:solidFill>
              </a:rPr>
              <a:t>✔ Com millis()</a:t>
            </a:r>
          </a:p>
          <a:p>
            <a:pPr algn="l">
              <a:buNone/>
            </a:pPr>
            <a:r>
              <a:rPr lang="pt-BR" sz="1200" dirty="0">
                <a:solidFill>
                  <a:srgbClr val="A78BFA"/>
                </a:solidFill>
                <a:latin typeface="Consolas"/>
              </a:rPr>
              <a:t>unsigned long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 prev = 0;</a:t>
            </a:r>
          </a:p>
          <a:p>
            <a:pPr algn="l">
              <a:buNone/>
            </a:pPr>
            <a:r>
              <a:rPr lang="pt-BR" sz="12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FFC857"/>
                </a:solidFill>
                <a:latin typeface="Consolas"/>
              </a:rPr>
              <a:t>loop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() {</a:t>
            </a:r>
          </a:p>
          <a:p>
            <a:pPr algn="l">
              <a:buNone/>
            </a:pPr>
            <a:r>
              <a:rPr lang="pt-BR" sz="1200" dirty="0">
                <a:solidFill>
                  <a:srgbClr val="4ECDC4"/>
                </a:solidFill>
                <a:latin typeface="Consolas"/>
              </a:rPr>
              <a:t>  if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(millis()-prev&gt;=1000){</a:t>
            </a:r>
          </a:p>
          <a:p>
            <a:pPr algn="l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  prev = millis();</a:t>
            </a:r>
          </a:p>
          <a:p>
            <a:pPr algn="l">
              <a:buNone/>
            </a:pPr>
            <a:r>
              <a:rPr lang="pt-BR" sz="1200" b="1" dirty="0">
                <a:solidFill>
                  <a:srgbClr val="00D9A6"/>
                </a:solidFill>
                <a:latin typeface="Consolas"/>
              </a:rPr>
              <a:t>    toggle(LED);</a:t>
            </a:r>
            <a:r>
              <a:rPr lang="pt-BR" sz="1100" dirty="0">
                <a:solidFill>
                  <a:srgbClr val="666688"/>
                </a:solidFill>
                <a:latin typeface="Consolas"/>
              </a:rPr>
              <a:t> // livre!</a:t>
            </a:r>
          </a:p>
          <a:p>
            <a:pPr algn="l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}</a:t>
            </a:r>
          </a:p>
          <a:p>
            <a:pPr algn="l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200" dirty="0">
                <a:solidFill>
                  <a:srgbClr val="00D9A6"/>
                </a:solidFill>
              </a:rPr>
              <a:t>CPU livre entre execuções!</a:t>
            </a:r>
          </a:p>
        </p:txBody>
      </p:sp>
    </p:spTree>
    <p:extLst>
      <p:ext uri="{BB962C8B-B14F-4D97-AF65-F5344CB8AC3E}">
        <p14:creationId xmlns:p14="http://schemas.microsoft.com/office/powerpoint/2010/main" val="529687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0CAA4-9C4B-9014-1963-4113CCA2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Controle de Tempo com millis()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46D777-F4D7-4BCB-8D7B-D6E6D4B5A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/>
              <a:t>Medir tempo sem bloquear • Execução periódica</a:t>
            </a:r>
          </a:p>
        </p:txBody>
      </p:sp>
    </p:spTree>
    <p:extLst>
      <p:ext uri="{BB962C8B-B14F-4D97-AF65-F5344CB8AC3E}">
        <p14:creationId xmlns:p14="http://schemas.microsoft.com/office/powerpoint/2010/main" val="89740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5A5F4-5A56-07BC-2502-B5CE7991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Como millis() Funciona?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E2F2D7-AD0B-05B5-5E6A-1708E9760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6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>
                <a:solidFill>
                  <a:srgbClr val="B8B8CC"/>
                </a:solidFill>
              </a:rPr>
              <a:t>A função </a:t>
            </a:r>
            <a:r>
              <a:rPr lang="pt-BR" sz="1500" b="1" dirty="0">
                <a:solidFill>
                  <a:srgbClr val="00D9A6"/>
                </a:solidFill>
                <a:latin typeface="Consolas"/>
              </a:rPr>
              <a:t>millis()</a:t>
            </a:r>
            <a:r>
              <a:rPr lang="pt-BR" sz="1500" dirty="0">
                <a:solidFill>
                  <a:srgbClr val="B8B8CC"/>
                </a:solidFill>
              </a:rPr>
              <a:t> retorna o tempo em ms desde o boot. Não bloqueia nada!</a:t>
            </a:r>
          </a:p>
          <a:p>
            <a:pPr marL="0" indent="0">
              <a:buNone/>
            </a:pPr>
            <a:r>
              <a:rPr lang="pt-BR" sz="1500" b="1" dirty="0">
                <a:solidFill>
                  <a:srgbClr val="6C63FF"/>
                </a:solidFill>
              </a:rPr>
              <a:t>Padrão fundamental:</a:t>
            </a:r>
          </a:p>
          <a:p>
            <a:pPr marL="457200" indent="-228600">
              <a:spcBef>
                <a:spcPts val="150"/>
              </a:spcBef>
              <a:buFont typeface="Arial"/>
              <a:buChar char="1"/>
            </a:pPr>
            <a:r>
              <a:rPr lang="pt-BR" sz="1400" dirty="0">
                <a:solidFill>
                  <a:srgbClr val="D0D0E0"/>
                </a:solidFill>
              </a:rPr>
              <a:t>Guardar o </a:t>
            </a:r>
            <a:r>
              <a:rPr lang="pt-BR" sz="1400" b="1" dirty="0">
                <a:solidFill>
                  <a:srgbClr val="FFC857"/>
                </a:solidFill>
                <a:latin typeface="Consolas"/>
              </a:rPr>
              <a:t>tempoAnterior</a:t>
            </a:r>
            <a:r>
              <a:rPr lang="pt-BR" sz="1400" dirty="0">
                <a:solidFill>
                  <a:srgbClr val="D0D0E0"/>
                </a:solidFill>
              </a:rPr>
              <a:t> (unsigned long)</a:t>
            </a:r>
          </a:p>
          <a:p>
            <a:pPr marL="457200" indent="-228600">
              <a:spcBef>
                <a:spcPts val="150"/>
              </a:spcBef>
              <a:buFont typeface="Arial"/>
              <a:buChar char="2"/>
            </a:pPr>
            <a:r>
              <a:rPr lang="pt-BR" sz="1400" dirty="0">
                <a:solidFill>
                  <a:srgbClr val="D0D0E0"/>
                </a:solidFill>
              </a:rPr>
              <a:t>A cada loop, calcular: </a:t>
            </a:r>
            <a:r>
              <a:rPr lang="pt-BR" sz="1400" b="1" dirty="0">
                <a:solidFill>
                  <a:srgbClr val="00D9A6"/>
                </a:solidFill>
                <a:latin typeface="Consolas"/>
              </a:rPr>
              <a:t>millis() - tempoAnterior</a:t>
            </a:r>
          </a:p>
          <a:p>
            <a:pPr marL="457200" indent="-228600">
              <a:spcBef>
                <a:spcPts val="150"/>
              </a:spcBef>
              <a:buFont typeface="Arial"/>
              <a:buChar char="3"/>
            </a:pPr>
            <a:r>
              <a:rPr lang="pt-BR" sz="1400" dirty="0">
                <a:solidFill>
                  <a:srgbClr val="D0D0E0"/>
                </a:solidFill>
              </a:rPr>
              <a:t>Se diferença ≥ intervalo desejado → executar ação</a:t>
            </a:r>
          </a:p>
          <a:p>
            <a:pPr marL="457200" indent="-228600">
              <a:spcBef>
                <a:spcPts val="150"/>
              </a:spcBef>
              <a:buFont typeface="Arial"/>
              <a:buChar char="4"/>
            </a:pPr>
            <a:r>
              <a:rPr lang="pt-BR" sz="1400" dirty="0">
                <a:solidFill>
                  <a:srgbClr val="D0D0E0"/>
                </a:solidFill>
              </a:rPr>
              <a:t>Atualizar </a:t>
            </a:r>
            <a:r>
              <a:rPr lang="pt-BR" sz="1400" b="1" dirty="0">
                <a:solidFill>
                  <a:srgbClr val="FFC857"/>
                </a:solidFill>
                <a:latin typeface="Consolas"/>
              </a:rPr>
              <a:t>tempoAnterior = millis()</a:t>
            </a:r>
          </a:p>
          <a:p>
            <a:pPr marL="0" indent="0">
              <a:buNone/>
            </a:pPr>
            <a:r>
              <a:rPr lang="pt-BR" sz="1500" b="1" dirty="0">
                <a:solidFill>
                  <a:srgbClr val="FFC857"/>
                </a:solidFill>
              </a:rPr>
              <a:t>⚠ Tipo: unsigned long (32 bits) → overflow em ~49 dias</a:t>
            </a:r>
          </a:p>
          <a:p>
            <a:pPr marL="0" indent="0">
              <a:buNone/>
            </a:pPr>
            <a:r>
              <a:rPr lang="pt-BR" sz="1400" dirty="0">
                <a:solidFill>
                  <a:srgbClr val="B8B8CC"/>
                </a:solidFill>
              </a:rPr>
              <a:t>A subtração </a:t>
            </a:r>
            <a:r>
              <a:rPr lang="pt-BR" sz="1400" b="1" dirty="0">
                <a:solidFill>
                  <a:srgbClr val="00D9A6"/>
                </a:solidFill>
                <a:latin typeface="Consolas"/>
              </a:rPr>
              <a:t>millis() - prev</a:t>
            </a:r>
            <a:r>
              <a:rPr lang="pt-BR" sz="1400" dirty="0">
                <a:solidFill>
                  <a:srgbClr val="B8B8CC"/>
                </a:solidFill>
              </a:rPr>
              <a:t> funciona corretamente mesmo com overflow!</a:t>
            </a:r>
          </a:p>
        </p:txBody>
      </p:sp>
    </p:spTree>
    <p:extLst>
      <p:ext uri="{BB962C8B-B14F-4D97-AF65-F5344CB8AC3E}">
        <p14:creationId xmlns:p14="http://schemas.microsoft.com/office/powerpoint/2010/main" val="984465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09830-DAFC-2129-2DCB-AD90DDF4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Padrão millis(): Fluxo de Execução</a:t>
            </a:r>
          </a:p>
        </p:txBody>
      </p:sp>
      <p:sp>
        <p:nvSpPr>
          <p:cNvPr id="10" name="Start"/>
          <p:cNvSpPr/>
          <p:nvPr/>
        </p:nvSpPr>
        <p:spPr>
          <a:xfrm>
            <a:off x="4600000" y="1300000"/>
            <a:ext cx="3000000" cy="500000"/>
          </a:xfrm>
          <a:prstGeom prst="round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loop() inicia</a:t>
            </a:r>
          </a:p>
        </p:txBody>
      </p:sp>
      <p:sp>
        <p:nvSpPr>
          <p:cNvPr id="11" name="A1"/>
          <p:cNvSpPr/>
          <p:nvPr/>
        </p:nvSpPr>
        <p:spPr>
          <a:xfrm>
            <a:off x="5800000" y="1800000"/>
            <a:ext cx="600000" cy="250000"/>
          </a:xfrm>
          <a:prstGeom prst="downArrow">
            <a:avLst/>
          </a:prstGeom>
          <a:solidFill>
            <a:srgbClr val="6C63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Check"/>
          <p:cNvSpPr/>
          <p:nvPr/>
        </p:nvSpPr>
        <p:spPr>
          <a:xfrm>
            <a:off x="4600000" y="2100000"/>
            <a:ext cx="3000000" cy="500000"/>
          </a:xfrm>
          <a:prstGeom prst="diamond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b="1" dirty="0">
                <a:solidFill>
                  <a:srgbClr val="12131A"/>
                </a:solidFill>
              </a:rPr>
              <a:t>millis()-prev &gt;= intervalo?</a:t>
            </a:r>
          </a:p>
        </p:txBody>
      </p:sp>
      <p:sp>
        <p:nvSpPr>
          <p:cNvPr id="13" name="A2"/>
          <p:cNvSpPr/>
          <p:nvPr/>
        </p:nvSpPr>
        <p:spPr>
          <a:xfrm>
            <a:off x="5800000" y="2600000"/>
            <a:ext cx="600000" cy="250000"/>
          </a:xfrm>
          <a:prstGeom prst="downArrow">
            <a:avLst/>
          </a:prstGeom>
          <a:solidFill>
            <a:srgbClr val="00D9A6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Exec"/>
          <p:cNvSpPr/>
          <p:nvPr/>
        </p:nvSpPr>
        <p:spPr>
          <a:xfrm>
            <a:off x="4600000" y="2900000"/>
            <a:ext cx="3000000" cy="500000"/>
          </a:xfrm>
          <a:prstGeom prst="roundRect">
            <a:avLst/>
          </a:prstGeom>
          <a:solidFill>
            <a:srgbClr val="00D9A6"/>
          </a:solidFill>
          <a:ln w="12700">
            <a:solidFill>
              <a:srgbClr val="00D9A6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Executar ação</a:t>
            </a:r>
          </a:p>
        </p:txBody>
      </p:sp>
      <p:sp>
        <p:nvSpPr>
          <p:cNvPr id="15" name="A3"/>
          <p:cNvSpPr/>
          <p:nvPr/>
        </p:nvSpPr>
        <p:spPr>
          <a:xfrm>
            <a:off x="5800000" y="3400000"/>
            <a:ext cx="600000" cy="250000"/>
          </a:xfrm>
          <a:prstGeom prst="downArrow">
            <a:avLst/>
          </a:prstGeom>
          <a:solidFill>
            <a:srgbClr val="00D9A6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Update"/>
          <p:cNvSpPr/>
          <p:nvPr/>
        </p:nvSpPr>
        <p:spPr>
          <a:xfrm>
            <a:off x="4600000" y="3700000"/>
            <a:ext cx="3000000" cy="50000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prev = millis()</a:t>
            </a:r>
          </a:p>
        </p:txBody>
      </p:sp>
      <p:sp>
        <p:nvSpPr>
          <p:cNvPr id="17" name="No"/>
          <p:cNvSpPr/>
          <p:nvPr/>
        </p:nvSpPr>
        <p:spPr>
          <a:xfrm>
            <a:off x="7900000" y="2200000"/>
            <a:ext cx="1800000" cy="350000"/>
          </a:xfrm>
          <a:prstGeom prst="roundRect">
            <a:avLst/>
          </a:prstGeom>
          <a:solidFill>
            <a:srgbClr val="FF6B6B">
              <a:alpha val="50000"/>
            </a:srgbClr>
          </a:solidFill>
          <a:ln w="12700">
            <a:solidFill>
              <a:srgbClr val="FF6B6B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FFFFFF"/>
                </a:solidFill>
              </a:rPr>
              <a:t>Não
Continua o loop</a:t>
            </a:r>
          </a:p>
        </p:txBody>
      </p:sp>
      <p:sp>
        <p:nvSpPr>
          <p:cNvPr id="18" name="YesLbl"/>
          <p:cNvSpPr/>
          <p:nvPr/>
        </p:nvSpPr>
        <p:spPr>
          <a:xfrm>
            <a:off x="7100000" y="2550000"/>
            <a:ext cx="600000" cy="300000"/>
          </a:xfrm>
          <a:prstGeom prst="rect">
            <a:avLst/>
          </a:prstGeom>
          <a:solidFill>
            <a:srgbClr val="12131A"/>
          </a:solidFill>
          <a:ln w="1270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b="1" dirty="0">
                <a:solidFill>
                  <a:srgbClr val="00D9A6"/>
                </a:solidFill>
              </a:rPr>
              <a:t>SIM</a:t>
            </a:r>
          </a:p>
        </p:txBody>
      </p:sp>
      <p:sp>
        <p:nvSpPr>
          <p:cNvPr id="19" name="NoLbl"/>
          <p:cNvSpPr/>
          <p:nvPr/>
        </p:nvSpPr>
        <p:spPr>
          <a:xfrm>
            <a:off x="7650000" y="2200000"/>
            <a:ext cx="500000" cy="300000"/>
          </a:xfrm>
          <a:prstGeom prst="rect">
            <a:avLst/>
          </a:prstGeom>
          <a:solidFill>
            <a:srgbClr val="12131A"/>
          </a:solidFill>
          <a:ln w="1270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b="1" dirty="0">
                <a:solidFill>
                  <a:srgbClr val="FF6B6B"/>
                </a:solidFill>
              </a:rPr>
              <a:t>NÃO</a:t>
            </a:r>
          </a:p>
        </p:txBody>
      </p:sp>
      <p:sp>
        <p:nvSpPr>
          <p:cNvPr id="30" name="Note1"/>
          <p:cNvSpPr/>
          <p:nvPr/>
        </p:nvSpPr>
        <p:spPr>
          <a:xfrm>
            <a:off x="300000" y="1500000"/>
            <a:ext cx="2800000" cy="400000"/>
          </a:xfrm>
          <a:prstGeom prst="rect">
            <a:avLst/>
          </a:prstGeom>
          <a:solidFill>
            <a:srgbClr val="12131A"/>
          </a:solidFill>
          <a:ln w="1270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888899"/>
                </a:solidFill>
              </a:rPr>
              <a:t>O loop() executa milhares
de vezes por segundo</a:t>
            </a:r>
          </a:p>
        </p:txBody>
      </p:sp>
      <p:sp>
        <p:nvSpPr>
          <p:cNvPr id="31" name="Note2"/>
          <p:cNvSpPr/>
          <p:nvPr/>
        </p:nvSpPr>
        <p:spPr>
          <a:xfrm>
            <a:off x="300000" y="3000000"/>
            <a:ext cx="2800000" cy="400000"/>
          </a:xfrm>
          <a:prstGeom prst="rect">
            <a:avLst/>
          </a:prstGeom>
          <a:solidFill>
            <a:srgbClr val="12131A"/>
          </a:solidFill>
          <a:ln w="1270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00D9A6"/>
                </a:solidFill>
              </a:rPr>
              <a:t>Ação só executa quando
o intervalo é atingido</a:t>
            </a:r>
          </a:p>
        </p:txBody>
      </p:sp>
      <p:sp>
        <p:nvSpPr>
          <p:cNvPr id="32" name="Back"/>
          <p:cNvSpPr/>
          <p:nvPr/>
        </p:nvSpPr>
        <p:spPr>
          <a:xfrm>
            <a:off x="5100000" y="4250000"/>
            <a:ext cx="2000000" cy="300000"/>
          </a:xfrm>
          <a:prstGeom prst="rect">
            <a:avLst/>
          </a:prstGeom>
          <a:solidFill>
            <a:srgbClr val="12131A"/>
          </a:solidFill>
          <a:ln w="1270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200" dirty="0">
                <a:solidFill>
                  <a:srgbClr val="6C63FF"/>
                </a:solidFill>
              </a:rPr>
              <a:t>↻ Volta ao início do loop()</a:t>
            </a:r>
          </a:p>
        </p:txBody>
      </p:sp>
    </p:spTree>
    <p:extLst>
      <p:ext uri="{BB962C8B-B14F-4D97-AF65-F5344CB8AC3E}">
        <p14:creationId xmlns:p14="http://schemas.microsoft.com/office/powerpoint/2010/main" val="2769705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E14C7-387E-C9A8-2253-F35694C5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Aplicações Práticas de millis()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27FFDE-2D74-8A17-34B8-FA2169D3D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b="1" dirty="0">
                <a:solidFill>
                  <a:srgbClr val="6C63FF"/>
                </a:solidFill>
              </a:rPr>
              <a:t>💡 Piscar LED sem bloquear</a:t>
            </a:r>
          </a:p>
          <a:p>
            <a:pPr marL="457200" indent="-228600">
              <a:spcBef>
                <a:spcPts val="1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Intervalo de 500ms, LED alterna HIGH/LOW</a:t>
            </a:r>
          </a:p>
          <a:p>
            <a:pPr marL="457200" indent="-228600">
              <a:spcBef>
                <a:spcPts val="1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Enquanto isso, outras tarefas continuam rodando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00D9A6"/>
                </a:solidFill>
              </a:rPr>
              <a:t>🌡 Leitura periódica de sensor</a:t>
            </a:r>
          </a:p>
          <a:p>
            <a:pPr marL="457200" indent="-228600">
              <a:spcBef>
                <a:spcPts val="1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DHT22 a cada 2s, BMP280 a cada 500ms</a:t>
            </a:r>
          </a:p>
          <a:p>
            <a:pPr marL="457200" indent="-228600">
              <a:spcBef>
                <a:spcPts val="1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Cada sensor com seu próprio </a:t>
            </a:r>
            <a:r>
              <a:rPr lang="pt-BR" sz="1400" b="1" dirty="0">
                <a:solidFill>
                  <a:srgbClr val="FFC857"/>
                </a:solidFill>
                <a:latin typeface="Consolas"/>
              </a:rPr>
              <a:t>tempoAnterior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FFC857"/>
                </a:solidFill>
              </a:rPr>
              <a:t>⚙ Controle de processo industrial</a:t>
            </a:r>
          </a:p>
          <a:p>
            <a:pPr marL="457200" indent="-228600">
              <a:spcBef>
                <a:spcPts val="1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PID a cada 100ms + log a cada 5s + display a cada 1s</a:t>
            </a:r>
          </a:p>
          <a:p>
            <a:pPr marL="457200" indent="-228600">
              <a:spcBef>
                <a:spcPts val="10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Cada subsistema opera no seu tempo, sem interferir nos outros</a:t>
            </a:r>
          </a:p>
        </p:txBody>
      </p:sp>
    </p:spTree>
    <p:extLst>
      <p:ext uri="{BB962C8B-B14F-4D97-AF65-F5344CB8AC3E}">
        <p14:creationId xmlns:p14="http://schemas.microsoft.com/office/powerpoint/2010/main" val="3460480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6F1D1-AC2F-79C1-0B22-8DC6B6EF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Máquinas de Estado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0624F7-D8BF-0F7B-CA8B-8D43FAC0C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State Machines • if/else • switch-case • Arquitetura escalável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4193962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28C92-F455-C00F-E134-F4FF4610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Nível 1: if + millis()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02E20C-70A7-7F53-346F-68A1A7B24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6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>
                <a:solidFill>
                  <a:srgbClr val="B8B8CC"/>
                </a:solidFill>
              </a:rPr>
              <a:t>Abordagem mais simples: variável de estado + </a:t>
            </a:r>
            <a:r>
              <a:rPr lang="pt-BR" sz="1500" b="1" dirty="0">
                <a:solidFill>
                  <a:srgbClr val="00D9A6"/>
                </a:solidFill>
                <a:latin typeface="Consolas"/>
              </a:rPr>
              <a:t>if/else</a:t>
            </a:r>
            <a:r>
              <a:rPr lang="pt-BR" sz="1500" dirty="0">
                <a:solidFill>
                  <a:srgbClr val="B8B8CC"/>
                </a:solidFill>
              </a:rPr>
              <a:t> + millis()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A78BFA"/>
                </a:solidFill>
                <a:latin typeface="Consolas"/>
              </a:rPr>
              <a:t>bool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 ledState = </a:t>
            </a:r>
            <a:r>
              <a:rPr lang="pt-BR" sz="1200" dirty="0">
                <a:solidFill>
                  <a:srgbClr val="FF6B6B"/>
                </a:solidFill>
                <a:latin typeface="Consolas"/>
              </a:rPr>
              <a:t>false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A78BFA"/>
                </a:solidFill>
                <a:latin typeface="Consolas"/>
              </a:rPr>
              <a:t>unsigned long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 prev = 0;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FFC857"/>
                </a:solidFill>
                <a:latin typeface="Consolas"/>
              </a:rPr>
              <a:t>loop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() {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4ECDC4"/>
                </a:solidFill>
                <a:latin typeface="Consolas"/>
              </a:rPr>
              <a:t>  if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 (millis() - prev &gt;= 1000) {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  prev = millis();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  ledState = </a:t>
            </a:r>
            <a:r>
              <a:rPr lang="pt-BR" sz="1200" b="1" dirty="0">
                <a:solidFill>
                  <a:srgbClr val="00D9A6"/>
                </a:solidFill>
                <a:latin typeface="Consolas"/>
              </a:rPr>
              <a:t>!ledState</a:t>
            </a:r>
            <a:r>
              <a:rPr lang="pt-BR" sz="1200" dirty="0">
                <a:solidFill>
                  <a:srgbClr val="D0D0E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  digitalWrite(LED, ledState);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  }</a:t>
            </a:r>
          </a:p>
          <a:p>
            <a:pPr marL="0" indent="0">
              <a:buNone/>
            </a:pPr>
            <a:r>
              <a:rPr lang="pt-BR" sz="1200" dirty="0">
                <a:solidFill>
                  <a:srgbClr val="D0D0E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pt-BR" sz="1400" b="1" dirty="0">
                <a:solidFill>
                  <a:srgbClr val="FFC857"/>
                </a:solidFill>
              </a:rPr>
              <a:t>✔ Simples, funciona para 2 estados (ON/OFF, IDLE/RUN)</a:t>
            </a:r>
          </a:p>
        </p:txBody>
      </p:sp>
    </p:spTree>
    <p:extLst>
      <p:ext uri="{BB962C8B-B14F-4D97-AF65-F5344CB8AC3E}">
        <p14:creationId xmlns:p14="http://schemas.microsoft.com/office/powerpoint/2010/main" val="1085587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7249A-DD26-1778-6837-F8F65008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Nível 2: switch-case</a:t>
            </a:r>
          </a:p>
        </p:txBody>
      </p:sp>
      <p:sp>
        <p:nvSpPr>
          <p:cNvPr id="10" name="IDLE"/>
          <p:cNvSpPr/>
          <p:nvPr/>
        </p:nvSpPr>
        <p:spPr>
          <a:xfrm>
            <a:off x="4996000" y="1300000"/>
            <a:ext cx="2200000" cy="800000"/>
          </a:xfrm>
          <a:prstGeom prst="roundRect">
            <a:avLst/>
          </a:prstGeom>
          <a:solidFill>
            <a:srgbClr val="6C63FF"/>
          </a:solidFill>
          <a:ln w="19050">
            <a:solidFill>
              <a:srgbClr val="6C63FF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IDLE
Aguardando</a:t>
            </a:r>
          </a:p>
        </p:txBody>
      </p:sp>
      <p:sp>
        <p:nvSpPr>
          <p:cNvPr id="11" name="READ"/>
          <p:cNvSpPr/>
          <p:nvPr/>
        </p:nvSpPr>
        <p:spPr>
          <a:xfrm>
            <a:off x="8596000" y="2700000"/>
            <a:ext cx="2200000" cy="800000"/>
          </a:xfrm>
          <a:prstGeom prst="roundRect">
            <a:avLst/>
          </a:prstGeom>
          <a:solidFill>
            <a:srgbClr val="00D9A6"/>
          </a:solidFill>
          <a:ln w="19050">
            <a:solidFill>
              <a:srgbClr val="00D9A6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READING
Lendo Sensor</a:t>
            </a:r>
          </a:p>
        </p:txBody>
      </p:sp>
      <p:sp>
        <p:nvSpPr>
          <p:cNvPr id="12" name="PROC"/>
          <p:cNvSpPr/>
          <p:nvPr/>
        </p:nvSpPr>
        <p:spPr>
          <a:xfrm>
            <a:off x="4996000" y="4100000"/>
            <a:ext cx="2200000" cy="800000"/>
          </a:xfrm>
          <a:prstGeom prst="roundRect">
            <a:avLst/>
          </a:prstGeom>
          <a:solidFill>
            <a:srgbClr val="FFC857"/>
          </a:solidFill>
          <a:ln w="19050">
            <a:solidFill>
              <a:srgbClr val="FFC857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12131A"/>
                </a:solidFill>
              </a:rPr>
              <a:t>PROCESSING
Calculando</a:t>
            </a:r>
          </a:p>
        </p:txBody>
      </p:sp>
      <p:sp>
        <p:nvSpPr>
          <p:cNvPr id="13" name="SEND"/>
          <p:cNvSpPr/>
          <p:nvPr/>
        </p:nvSpPr>
        <p:spPr>
          <a:xfrm>
            <a:off x="1396000" y="2700000"/>
            <a:ext cx="2200000" cy="800000"/>
          </a:xfrm>
          <a:prstGeom prst="roundRect">
            <a:avLst/>
          </a:prstGeom>
          <a:solidFill>
            <a:srgbClr val="A78BFA"/>
          </a:solidFill>
          <a:ln w="19050">
            <a:solidFill>
              <a:srgbClr val="A78BF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SENDING
Enviando WiFi</a:t>
            </a:r>
          </a:p>
        </p:txBody>
      </p:sp>
      <p:sp>
        <p:nvSpPr>
          <p:cNvPr id="14" name="T1"/>
          <p:cNvSpPr/>
          <p:nvPr/>
        </p:nvSpPr>
        <p:spPr>
          <a:xfrm>
            <a:off x="7796000" y="1570344"/>
            <a:ext cx="1800000" cy="350000"/>
          </a:xfrm>
          <a:prstGeom prst="rightArrow">
            <a:avLst/>
          </a:prstGeom>
          <a:solidFill>
            <a:srgbClr val="00D9A6">
              <a:alpha val="40000"/>
            </a:srgbClr>
          </a:solidFill>
          <a:ln w="19050">
            <a:solidFill>
              <a:srgbClr val="00D9A6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100" dirty="0">
                <a:solidFill>
                  <a:srgbClr val="FFFFFF"/>
                </a:solidFill>
              </a:rPr>
              <a:t>Timer</a:t>
            </a:r>
          </a:p>
        </p:txBody>
      </p:sp>
      <p:sp>
        <p:nvSpPr>
          <p:cNvPr id="15" name="T2"/>
          <p:cNvSpPr/>
          <p:nvPr/>
        </p:nvSpPr>
        <p:spPr>
          <a:xfrm>
            <a:off x="8796000" y="4109781"/>
            <a:ext cx="1200000" cy="600000"/>
          </a:xfrm>
          <a:prstGeom prst="downArrow">
            <a:avLst/>
          </a:prstGeom>
          <a:solidFill>
            <a:srgbClr val="FFC857">
              <a:alpha val="30000"/>
            </a:srgbClr>
          </a:solidFill>
          <a:ln w="19050">
            <a:solidFill>
              <a:srgbClr val="FFC857"/>
            </a:solidFill>
          </a:ln>
        </p:spPr>
        <p:txBody>
          <a:bodyPr lIns="36000" tIns="18000" rIns="36000" bIns="18000" anchor="ctr" anchorCtr="1"/>
          <a:lstStyle/>
          <a:p>
            <a:pPr algn="ctr"/>
            <a:endParaRPr/>
          </a:p>
        </p:txBody>
      </p:sp>
      <p:sp>
        <p:nvSpPr>
          <p:cNvPr id="16" name="T3"/>
          <p:cNvSpPr/>
          <p:nvPr/>
        </p:nvSpPr>
        <p:spPr>
          <a:xfrm>
            <a:off x="2696000" y="4205768"/>
            <a:ext cx="1800000" cy="350000"/>
          </a:xfrm>
          <a:prstGeom prst="leftArrow">
            <a:avLst/>
          </a:prstGeom>
          <a:solidFill>
            <a:srgbClr val="A78BFA">
              <a:alpha val="40000"/>
            </a:srgbClr>
          </a:solidFill>
          <a:ln w="19050">
            <a:solidFill>
              <a:srgbClr val="A78BF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100" dirty="0">
                <a:solidFill>
                  <a:srgbClr val="FFFFFF"/>
                </a:solidFill>
              </a:rPr>
              <a:t>Dados OK</a:t>
            </a:r>
          </a:p>
        </p:txBody>
      </p:sp>
      <p:sp>
        <p:nvSpPr>
          <p:cNvPr id="17" name="T4"/>
          <p:cNvSpPr/>
          <p:nvPr/>
        </p:nvSpPr>
        <p:spPr>
          <a:xfrm>
            <a:off x="2096000" y="1600000"/>
            <a:ext cx="1200000" cy="600000"/>
          </a:xfrm>
          <a:prstGeom prst="upArrow">
            <a:avLst/>
          </a:prstGeom>
          <a:solidFill>
            <a:srgbClr val="6C63FF">
              <a:alpha val="30000"/>
            </a:srgbClr>
          </a:solidFill>
          <a:ln w="19050">
            <a:solidFill>
              <a:srgbClr val="6C63FF"/>
            </a:solidFill>
          </a:ln>
        </p:spPr>
        <p:txBody>
          <a:bodyPr lIns="36000" tIns="18000" rIns="36000" bIns="18000" anchor="ctr" anchorCtr="1"/>
          <a:lstStyle/>
          <a:p>
            <a:pPr algn="ctr"/>
            <a:endParaRPr/>
          </a:p>
        </p:txBody>
      </p:sp>
      <p:sp>
        <p:nvSpPr>
          <p:cNvPr id="20" name="L1"/>
          <p:cNvSpPr/>
          <p:nvPr/>
        </p:nvSpPr>
        <p:spPr>
          <a:xfrm>
            <a:off x="-400000" y="-100000"/>
            <a:ext cx="800000" cy="2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pt-BR" sz="1000" dirty="0">
                <a:solidFill>
                  <a:srgbClr val="00D9A6"/>
                </a:solidFill>
              </a:rPr>
              <a:t>intervalo atingido</a:t>
            </a:r>
          </a:p>
        </p:txBody>
      </p:sp>
      <p:sp>
        <p:nvSpPr>
          <p:cNvPr id="30" name="TL1"/>
          <p:cNvSpPr/>
          <p:nvPr/>
        </p:nvSpPr>
        <p:spPr>
          <a:xfrm>
            <a:off x="7996000" y="1920344"/>
            <a:ext cx="1600000" cy="300000"/>
          </a:xfrm>
          <a:prstGeom prst="rect">
            <a:avLst/>
          </a:prstGeom>
          <a:solidFill>
            <a:srgbClr val="12131A"/>
          </a:solidFill>
          <a:ln w="1905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100" dirty="0">
                <a:solidFill>
                  <a:srgbClr val="00D9A6"/>
                </a:solidFill>
              </a:rPr>
              <a:t>→ Intervalo atingido</a:t>
            </a:r>
          </a:p>
        </p:txBody>
      </p:sp>
      <p:sp>
        <p:nvSpPr>
          <p:cNvPr id="31" name="TL2"/>
          <p:cNvSpPr/>
          <p:nvPr/>
        </p:nvSpPr>
        <p:spPr>
          <a:xfrm>
            <a:off x="8696000" y="3550000"/>
            <a:ext cx="1600000" cy="300000"/>
          </a:xfrm>
          <a:prstGeom prst="rect">
            <a:avLst/>
          </a:prstGeom>
          <a:solidFill>
            <a:srgbClr val="12131A"/>
          </a:solidFill>
          <a:ln w="1905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100" dirty="0">
                <a:solidFill>
                  <a:srgbClr val="FFC857"/>
                </a:solidFill>
              </a:rPr>
              <a:t>↓ Leitura completa</a:t>
            </a:r>
          </a:p>
        </p:txBody>
      </p:sp>
      <p:sp>
        <p:nvSpPr>
          <p:cNvPr id="32" name="TL3"/>
          <p:cNvSpPr/>
          <p:nvPr/>
        </p:nvSpPr>
        <p:spPr>
          <a:xfrm>
            <a:off x="2896000" y="4555768"/>
            <a:ext cx="1600000" cy="300000"/>
          </a:xfrm>
          <a:prstGeom prst="rect">
            <a:avLst/>
          </a:prstGeom>
          <a:solidFill>
            <a:srgbClr val="12131A"/>
          </a:solidFill>
          <a:ln w="1905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100" dirty="0">
                <a:solidFill>
                  <a:srgbClr val="A78BFA"/>
                </a:solidFill>
              </a:rPr>
              <a:t>← Dados prontos</a:t>
            </a:r>
          </a:p>
        </p:txBody>
      </p:sp>
      <p:sp>
        <p:nvSpPr>
          <p:cNvPr id="33" name="TL4"/>
          <p:cNvSpPr/>
          <p:nvPr/>
        </p:nvSpPr>
        <p:spPr>
          <a:xfrm>
            <a:off x="1812310" y="2300000"/>
            <a:ext cx="1600000" cy="300000"/>
          </a:xfrm>
          <a:prstGeom prst="rect">
            <a:avLst/>
          </a:prstGeom>
          <a:solidFill>
            <a:srgbClr val="12131A"/>
          </a:solidFill>
          <a:ln w="19050">
            <a:solidFill>
              <a:srgbClr val="12131A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100" dirty="0">
                <a:solidFill>
                  <a:srgbClr val="6C63FF"/>
                </a:solidFill>
              </a:rPr>
              <a:t>↑ Envio completo</a:t>
            </a:r>
          </a:p>
        </p:txBody>
      </p:sp>
      <p:sp>
        <p:nvSpPr>
          <p:cNvPr id="40" name="CL"/>
          <p:cNvSpPr/>
          <p:nvPr/>
        </p:nvSpPr>
        <p:spPr>
          <a:xfrm>
            <a:off x="5096000" y="2900000"/>
            <a:ext cx="2000000" cy="400000"/>
          </a:xfrm>
          <a:prstGeom prst="roundRect">
            <a:avLst/>
          </a:prstGeom>
          <a:solidFill>
            <a:srgbClr val="1C1D2B"/>
          </a:solidFill>
          <a:ln w="19050">
            <a:solidFill>
              <a:srgbClr val="1C1D2B"/>
            </a:solidFill>
          </a:ln>
        </p:spPr>
        <p:txBody>
          <a:bodyPr lIns="36000" tIns="18000" rIns="36000" bIns="18000" anchor="ctr" anchorCtr="1"/>
          <a:lstStyle/>
          <a:p>
            <a:pPr algn="ctr"/>
            <a:r>
              <a:rPr lang="pt-BR" sz="1400" b="1" dirty="0">
                <a:solidFill>
                  <a:srgbClr val="4ECDC4"/>
                </a:solidFill>
              </a:rPr>
              <a:t>switch(state)</a:t>
            </a:r>
          </a:p>
        </p:txBody>
      </p:sp>
    </p:spTree>
    <p:extLst>
      <p:ext uri="{BB962C8B-B14F-4D97-AF65-F5344CB8AC3E}">
        <p14:creationId xmlns:p14="http://schemas.microsoft.com/office/powerpoint/2010/main" val="1169813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A04C1-E1C4-21C1-3F13-88E1ABD7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Código: switch-case State Machine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229EAA-4B21-0852-C643-B5B75D65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6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1100" dirty="0">
                <a:solidFill>
                  <a:srgbClr val="A78BFA"/>
                </a:solidFill>
                <a:latin typeface="Consolas"/>
              </a:rPr>
              <a:t>enum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 State { IDLE, READING, PROCESSING, SENDING };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State state = IDLE;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 </a:t>
            </a:r>
            <a:r>
              <a:rPr lang="pt-BR" sz="1100" b="1" dirty="0">
                <a:solidFill>
                  <a:srgbClr val="FFC857"/>
                </a:solidFill>
                <a:latin typeface="Consolas"/>
              </a:rPr>
              <a:t>loop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() {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4ECDC4"/>
                </a:solidFill>
                <a:latin typeface="Consolas"/>
              </a:rPr>
              <a:t>  switch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(state) {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4ECDC4"/>
                </a:solidFill>
                <a:latin typeface="Consolas"/>
              </a:rPr>
              <a:t>    case</a:t>
            </a:r>
            <a:r>
              <a:rPr lang="pt-BR" sz="1100" dirty="0">
                <a:solidFill>
                  <a:srgbClr val="6C63FF"/>
                </a:solidFill>
                <a:latin typeface="Consolas"/>
              </a:rPr>
              <a:t> IDLE: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</a:t>
            </a:r>
            <a:r>
              <a:rPr lang="pt-BR" sz="1100" dirty="0">
                <a:solidFill>
                  <a:srgbClr val="4ECDC4"/>
                </a:solidFill>
                <a:latin typeface="Consolas"/>
              </a:rPr>
              <a:t>if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(millis()-prev&gt;=2000) {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  state = </a:t>
            </a:r>
            <a:r>
              <a:rPr lang="pt-BR" sz="1100" b="1" dirty="0">
                <a:solidFill>
                  <a:srgbClr val="00D9A6"/>
                </a:solidFill>
                <a:latin typeface="Consolas"/>
              </a:rPr>
              <a:t>READING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; } </a:t>
            </a:r>
            <a:r>
              <a:rPr lang="pt-BR" sz="1100" dirty="0">
                <a:solidFill>
                  <a:srgbClr val="4ECDC4"/>
                </a:solidFill>
                <a:latin typeface="Consolas"/>
              </a:rPr>
              <a:t>break;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4ECDC4"/>
                </a:solidFill>
                <a:latin typeface="Consolas"/>
              </a:rPr>
              <a:t>    case</a:t>
            </a:r>
            <a:r>
              <a:rPr lang="pt-BR" sz="1100" dirty="0">
                <a:solidFill>
                  <a:srgbClr val="00D9A6"/>
                </a:solidFill>
                <a:latin typeface="Consolas"/>
              </a:rPr>
              <a:t> READING: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valor = analogRead(SENSOR);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state = </a:t>
            </a:r>
            <a:r>
              <a:rPr lang="pt-BR" sz="1100" b="1" dirty="0">
                <a:solidFill>
                  <a:srgbClr val="FFC857"/>
                </a:solidFill>
                <a:latin typeface="Consolas"/>
              </a:rPr>
              <a:t>PROCESSING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; </a:t>
            </a:r>
            <a:r>
              <a:rPr lang="pt-BR" sz="1100" dirty="0">
                <a:solidFill>
                  <a:srgbClr val="4ECDC4"/>
                </a:solidFill>
                <a:latin typeface="Consolas"/>
              </a:rPr>
              <a:t>break;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4ECDC4"/>
                </a:solidFill>
                <a:latin typeface="Consolas"/>
              </a:rPr>
              <a:t>    case</a:t>
            </a:r>
            <a:r>
              <a:rPr lang="pt-BR" sz="1100" dirty="0">
                <a:solidFill>
                  <a:srgbClr val="FFC857"/>
                </a:solidFill>
                <a:latin typeface="Consolas"/>
              </a:rPr>
              <a:t> PROCESSING: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resultado = calcular(valor);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state = </a:t>
            </a:r>
            <a:r>
              <a:rPr lang="pt-BR" sz="1100" b="1" dirty="0">
                <a:solidFill>
                  <a:srgbClr val="A78BFA"/>
                </a:solidFill>
                <a:latin typeface="Consolas"/>
              </a:rPr>
              <a:t>SENDING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; </a:t>
            </a:r>
            <a:r>
              <a:rPr lang="pt-BR" sz="1100" dirty="0">
                <a:solidFill>
                  <a:srgbClr val="4ECDC4"/>
                </a:solidFill>
                <a:latin typeface="Consolas"/>
              </a:rPr>
              <a:t>break;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4ECDC4"/>
                </a:solidFill>
                <a:latin typeface="Consolas"/>
              </a:rPr>
              <a:t>    case</a:t>
            </a:r>
            <a:r>
              <a:rPr lang="pt-BR" sz="1100" dirty="0">
                <a:solidFill>
                  <a:srgbClr val="A78BFA"/>
                </a:solidFill>
                <a:latin typeface="Consolas"/>
              </a:rPr>
              <a:t> SENDING: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enviarWiFi(resultado);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    prev = millis(); state = </a:t>
            </a:r>
            <a:r>
              <a:rPr lang="pt-BR" sz="1100" b="1" dirty="0">
                <a:solidFill>
                  <a:srgbClr val="6C63FF"/>
                </a:solidFill>
                <a:latin typeface="Consolas"/>
              </a:rPr>
              <a:t>IDLE</a:t>
            </a:r>
            <a:r>
              <a:rPr lang="pt-BR" sz="1100" dirty="0">
                <a:solidFill>
                  <a:srgbClr val="D0D0E0"/>
                </a:solidFill>
                <a:latin typeface="Consolas"/>
              </a:rPr>
              <a:t>; </a:t>
            </a:r>
            <a:r>
              <a:rPr lang="pt-BR" sz="1100" dirty="0">
                <a:solidFill>
                  <a:srgbClr val="4ECDC4"/>
                </a:solidFill>
                <a:latin typeface="Consolas"/>
              </a:rPr>
              <a:t>break;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  }</a:t>
            </a:r>
          </a:p>
          <a:p>
            <a:pPr marL="0" indent="0">
              <a:buNone/>
            </a:pPr>
            <a:r>
              <a:rPr lang="pt-BR" sz="1100" dirty="0">
                <a:solidFill>
                  <a:srgbClr val="D0D0E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0656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8FDBA-EA97-6B88-F63F-CD2259E0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Nível 3: Arquitetura Escalável</a:t>
            </a:r>
          </a:p>
        </p:txBody>
      </p:sp>
      <p:sp>
        <p:nvSpPr>
          <p:cNvPr id="10" name="Box10"/>
          <p:cNvSpPr/>
          <p:nvPr/>
        </p:nvSpPr>
        <p:spPr>
          <a:xfrm>
            <a:off x="3500000" y="1581000"/>
            <a:ext cx="5200000" cy="6000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Main Controller (loop)</a:t>
            </a:r>
          </a:p>
        </p:txBody>
      </p:sp>
      <p:sp>
        <p:nvSpPr>
          <p:cNvPr id="11" name="Box11"/>
          <p:cNvSpPr/>
          <p:nvPr/>
        </p:nvSpPr>
        <p:spPr>
          <a:xfrm>
            <a:off x="5700000" y="2181000"/>
            <a:ext cx="800000" cy="350000"/>
          </a:xfrm>
          <a:prstGeom prst="roundRect">
            <a:avLst/>
          </a:prstGeom>
          <a:solidFill>
            <a:srgbClr val="6C63FF">
              <a:alpha val="4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600" dirty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2" name="Box12"/>
          <p:cNvSpPr/>
          <p:nvPr/>
        </p:nvSpPr>
        <p:spPr>
          <a:xfrm>
            <a:off x="3500000" y="2581000"/>
            <a:ext cx="5200000" cy="600000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400" b="1" dirty="0">
                <a:solidFill>
                  <a:srgbClr val="FFFFFF"/>
                </a:solidFill>
              </a:rPr>
              <a:t>State Manager (switch-case)</a:t>
            </a:r>
          </a:p>
        </p:txBody>
      </p:sp>
      <p:sp>
        <p:nvSpPr>
          <p:cNvPr id="13" name="Box13"/>
          <p:cNvSpPr/>
          <p:nvPr/>
        </p:nvSpPr>
        <p:spPr>
          <a:xfrm>
            <a:off x="1100000" y="3280999"/>
            <a:ext cx="800000" cy="300000"/>
          </a:xfrm>
          <a:prstGeom prst="roundRect">
            <a:avLst/>
          </a:prstGeom>
          <a:solidFill>
            <a:srgbClr val="6C63FF">
              <a:alpha val="3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↙</a:t>
            </a:r>
          </a:p>
        </p:txBody>
      </p:sp>
      <p:sp>
        <p:nvSpPr>
          <p:cNvPr id="14" name="Box14"/>
          <p:cNvSpPr/>
          <p:nvPr/>
        </p:nvSpPr>
        <p:spPr>
          <a:xfrm>
            <a:off x="4100000" y="3280999"/>
            <a:ext cx="800000" cy="300000"/>
          </a:xfrm>
          <a:prstGeom prst="roundRect">
            <a:avLst/>
          </a:prstGeom>
          <a:solidFill>
            <a:srgbClr val="00D9A6">
              <a:alpha val="3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400" dirty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5" name="Box15"/>
          <p:cNvSpPr/>
          <p:nvPr/>
        </p:nvSpPr>
        <p:spPr>
          <a:xfrm>
            <a:off x="7200000" y="3280999"/>
            <a:ext cx="800000" cy="300000"/>
          </a:xfrm>
          <a:prstGeom prst="roundRect">
            <a:avLst/>
          </a:prstGeom>
          <a:solidFill>
            <a:srgbClr val="FFC857">
              <a:alpha val="3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400" dirty="0">
                <a:solidFill>
                  <a:srgbClr val="12131A"/>
                </a:solidFill>
              </a:rPr>
              <a:t>↘</a:t>
            </a:r>
          </a:p>
        </p:txBody>
      </p:sp>
      <p:sp>
        <p:nvSpPr>
          <p:cNvPr id="16" name="Box16"/>
          <p:cNvSpPr/>
          <p:nvPr/>
        </p:nvSpPr>
        <p:spPr>
          <a:xfrm>
            <a:off x="400000" y="3680999"/>
            <a:ext cx="3000000" cy="900000"/>
          </a:xfrm>
          <a:prstGeom prst="roundRect">
            <a:avLst/>
          </a:prstGeom>
          <a:solidFill>
            <a:srgbClr val="6C63FF">
              <a:alpha val="5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dirty="0">
                <a:solidFill>
                  <a:srgbClr val="FFFFFF"/>
                </a:solidFill>
              </a:rPr>
              <a:t>Módulo Sensor
sensorInit()
sensorRead()
sensorProcess()</a:t>
            </a:r>
          </a:p>
        </p:txBody>
      </p:sp>
      <p:sp>
        <p:nvSpPr>
          <p:cNvPr id="17" name="Box17"/>
          <p:cNvSpPr/>
          <p:nvPr/>
        </p:nvSpPr>
        <p:spPr>
          <a:xfrm>
            <a:off x="3700000" y="3680999"/>
            <a:ext cx="3000000" cy="900000"/>
          </a:xfrm>
          <a:prstGeom prst="roundRect">
            <a:avLst/>
          </a:prstGeom>
          <a:solidFill>
            <a:srgbClr val="00D9A6">
              <a:alpha val="5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dirty="0">
                <a:solidFill>
                  <a:srgbClr val="FFFFFF"/>
                </a:solidFill>
              </a:rPr>
              <a:t>Módulo Display
displayInit()
displayUpdate()
displayError()</a:t>
            </a:r>
          </a:p>
        </p:txBody>
      </p:sp>
      <p:sp>
        <p:nvSpPr>
          <p:cNvPr id="18" name="Box18"/>
          <p:cNvSpPr/>
          <p:nvPr/>
        </p:nvSpPr>
        <p:spPr>
          <a:xfrm>
            <a:off x="7000000" y="3680999"/>
            <a:ext cx="3000000" cy="900000"/>
          </a:xfrm>
          <a:prstGeom prst="roundRect">
            <a:avLst/>
          </a:prstGeom>
          <a:solidFill>
            <a:srgbClr val="FFC857">
              <a:alpha val="5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dirty="0">
                <a:solidFill>
                  <a:srgbClr val="12131A"/>
                </a:solidFill>
              </a:rPr>
              <a:t>Módulo Comunicação
wifiConnect()
mqttPublish()
httpPost()</a:t>
            </a:r>
          </a:p>
        </p:txBody>
      </p:sp>
      <p:sp>
        <p:nvSpPr>
          <p:cNvPr id="20" name="Box20"/>
          <p:cNvSpPr/>
          <p:nvPr/>
        </p:nvSpPr>
        <p:spPr>
          <a:xfrm>
            <a:off x="400000" y="4981000"/>
            <a:ext cx="3000000" cy="550000"/>
          </a:xfrm>
          <a:prstGeom prst="roundRect">
            <a:avLst/>
          </a:prstGeom>
          <a:solidFill>
            <a:srgbClr val="1C1D2B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dirty="0">
                <a:solidFill>
                  <a:srgbClr val="00D9A6"/>
                </a:solidFill>
              </a:rPr>
              <a:t>✔ Cada módulo isolado
✔ Fácil de testar</a:t>
            </a:r>
          </a:p>
        </p:txBody>
      </p:sp>
      <p:sp>
        <p:nvSpPr>
          <p:cNvPr id="21" name="Box21"/>
          <p:cNvSpPr/>
          <p:nvPr/>
        </p:nvSpPr>
        <p:spPr>
          <a:xfrm>
            <a:off x="3700000" y="4981000"/>
            <a:ext cx="3000000" cy="550000"/>
          </a:xfrm>
          <a:prstGeom prst="roundRect">
            <a:avLst/>
          </a:prstGeom>
          <a:solidFill>
            <a:srgbClr val="1C1D2B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dirty="0">
                <a:solidFill>
                  <a:srgbClr val="FFC857"/>
                </a:solidFill>
              </a:rPr>
              <a:t>✔ Reutilizável
✔ Escalável</a:t>
            </a:r>
          </a:p>
        </p:txBody>
      </p:sp>
      <p:sp>
        <p:nvSpPr>
          <p:cNvPr id="22" name="Box22"/>
          <p:cNvSpPr/>
          <p:nvPr/>
        </p:nvSpPr>
        <p:spPr>
          <a:xfrm>
            <a:off x="7000000" y="4981000"/>
            <a:ext cx="3000000" cy="550000"/>
          </a:xfrm>
          <a:prstGeom prst="roundRect">
            <a:avLst/>
          </a:prstGeom>
          <a:solidFill>
            <a:srgbClr val="1C1D2B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dirty="0">
                <a:solidFill>
                  <a:srgbClr val="A78BFA"/>
                </a:solidFill>
              </a:rPr>
              <a:t>✔ Fácil manutenção
✔ Debug simplificado</a:t>
            </a:r>
          </a:p>
        </p:txBody>
      </p:sp>
    </p:spTree>
    <p:extLst>
      <p:ext uri="{BB962C8B-B14F-4D97-AF65-F5344CB8AC3E}">
        <p14:creationId xmlns:p14="http://schemas.microsoft.com/office/powerpoint/2010/main" val="734250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41AB8-4822-D9E5-08B5-051ABF3B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Comparação: Níveis de State Machine</a:t>
            </a:r>
          </a:p>
        </p:txBody>
      </p:sp>
      <p:sp>
        <p:nvSpPr>
          <p:cNvPr id="10" name="Cell10"/>
          <p:cNvSpPr/>
          <p:nvPr/>
        </p:nvSpPr>
        <p:spPr>
          <a:xfrm>
            <a:off x="400000" y="1300000"/>
            <a:ext cx="2200000" cy="500000"/>
          </a:xfrm>
          <a:prstGeom prst="roundRect">
            <a:avLst/>
          </a:prstGeom>
          <a:solidFill>
            <a:srgbClr val="2A2B3D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200" b="1" dirty="0">
                <a:solidFill>
                  <a:srgbClr val="B8B8CC"/>
                </a:solidFill>
              </a:rPr>
              <a:t>Aspecto</a:t>
            </a:r>
          </a:p>
        </p:txBody>
      </p:sp>
      <p:sp>
        <p:nvSpPr>
          <p:cNvPr id="11" name="Cell11"/>
          <p:cNvSpPr/>
          <p:nvPr/>
        </p:nvSpPr>
        <p:spPr>
          <a:xfrm>
            <a:off x="2650000" y="1300000"/>
            <a:ext cx="2700000" cy="500000"/>
          </a:xfrm>
          <a:prstGeom prst="roundRect">
            <a:avLst/>
          </a:prstGeom>
          <a:solidFill>
            <a:srgbClr val="6C63FF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200" b="1" dirty="0">
                <a:solidFill>
                  <a:srgbClr val="FFFFFF"/>
                </a:solidFill>
              </a:rPr>
              <a:t>Nível 1: if+millis</a:t>
            </a:r>
          </a:p>
        </p:txBody>
      </p:sp>
      <p:sp>
        <p:nvSpPr>
          <p:cNvPr id="12" name="Cell12"/>
          <p:cNvSpPr/>
          <p:nvPr/>
        </p:nvSpPr>
        <p:spPr>
          <a:xfrm>
            <a:off x="5400000" y="1300000"/>
            <a:ext cx="2700000" cy="500000"/>
          </a:xfrm>
          <a:prstGeom prst="roundRect">
            <a:avLst/>
          </a:prstGeom>
          <a:solidFill>
            <a:srgbClr val="00D9A6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200" b="1" dirty="0">
                <a:solidFill>
                  <a:srgbClr val="FFFFFF"/>
                </a:solidFill>
              </a:rPr>
              <a:t>Nível 2: switch-case</a:t>
            </a:r>
          </a:p>
        </p:txBody>
      </p:sp>
      <p:sp>
        <p:nvSpPr>
          <p:cNvPr id="13" name="Cell13"/>
          <p:cNvSpPr/>
          <p:nvPr/>
        </p:nvSpPr>
        <p:spPr>
          <a:xfrm>
            <a:off x="8150000" y="1300000"/>
            <a:ext cx="3200000" cy="500000"/>
          </a:xfrm>
          <a:prstGeom prst="roundRect">
            <a:avLst/>
          </a:prstGeom>
          <a:solidFill>
            <a:srgbClr val="FFC857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200" b="1" dirty="0">
                <a:solidFill>
                  <a:srgbClr val="12131A"/>
                </a:solidFill>
              </a:rPr>
              <a:t>Nível 3: Modular</a:t>
            </a:r>
          </a:p>
        </p:txBody>
      </p:sp>
      <p:sp>
        <p:nvSpPr>
          <p:cNvPr id="20" name="Cell20"/>
          <p:cNvSpPr/>
          <p:nvPr/>
        </p:nvSpPr>
        <p:spPr>
          <a:xfrm>
            <a:off x="400000" y="1850000"/>
            <a:ext cx="22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b="1" dirty="0">
                <a:solidFill>
                  <a:srgbClr val="B8B8CC"/>
                </a:solidFill>
              </a:rPr>
              <a:t>Complexidade</a:t>
            </a:r>
          </a:p>
        </p:txBody>
      </p:sp>
      <p:sp>
        <p:nvSpPr>
          <p:cNvPr id="21" name="Cell21"/>
          <p:cNvSpPr/>
          <p:nvPr/>
        </p:nvSpPr>
        <p:spPr>
          <a:xfrm>
            <a:off x="2650000" y="1850000"/>
            <a:ext cx="27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Baixa</a:t>
            </a:r>
          </a:p>
        </p:txBody>
      </p:sp>
      <p:sp>
        <p:nvSpPr>
          <p:cNvPr id="22" name="Cell22"/>
          <p:cNvSpPr/>
          <p:nvPr/>
        </p:nvSpPr>
        <p:spPr>
          <a:xfrm>
            <a:off x="5400000" y="1850000"/>
            <a:ext cx="27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Média</a:t>
            </a:r>
          </a:p>
        </p:txBody>
      </p:sp>
      <p:sp>
        <p:nvSpPr>
          <p:cNvPr id="23" name="Cell23"/>
          <p:cNvSpPr/>
          <p:nvPr/>
        </p:nvSpPr>
        <p:spPr>
          <a:xfrm>
            <a:off x="8150000" y="1850000"/>
            <a:ext cx="32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Alta</a:t>
            </a:r>
          </a:p>
        </p:txBody>
      </p:sp>
      <p:sp>
        <p:nvSpPr>
          <p:cNvPr id="24" name="Cell24"/>
          <p:cNvSpPr/>
          <p:nvPr/>
        </p:nvSpPr>
        <p:spPr>
          <a:xfrm>
            <a:off x="400000" y="2550000"/>
            <a:ext cx="22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b="1" dirty="0">
                <a:solidFill>
                  <a:srgbClr val="B8B8CC"/>
                </a:solidFill>
              </a:rPr>
              <a:t>Estados</a:t>
            </a:r>
          </a:p>
        </p:txBody>
      </p:sp>
      <p:sp>
        <p:nvSpPr>
          <p:cNvPr id="25" name="Cell25"/>
          <p:cNvSpPr/>
          <p:nvPr/>
        </p:nvSpPr>
        <p:spPr>
          <a:xfrm>
            <a:off x="2650000" y="2550000"/>
            <a:ext cx="27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2 (ON/OFF)</a:t>
            </a:r>
          </a:p>
        </p:txBody>
      </p:sp>
      <p:sp>
        <p:nvSpPr>
          <p:cNvPr id="26" name="Cell26"/>
          <p:cNvSpPr/>
          <p:nvPr/>
        </p:nvSpPr>
        <p:spPr>
          <a:xfrm>
            <a:off x="5400000" y="2550000"/>
            <a:ext cx="27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4-8 estados</a:t>
            </a:r>
          </a:p>
        </p:txBody>
      </p:sp>
      <p:sp>
        <p:nvSpPr>
          <p:cNvPr id="27" name="Cell27"/>
          <p:cNvSpPr/>
          <p:nvPr/>
        </p:nvSpPr>
        <p:spPr>
          <a:xfrm>
            <a:off x="8150000" y="2550000"/>
            <a:ext cx="32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Ilimitados</a:t>
            </a:r>
          </a:p>
        </p:txBody>
      </p:sp>
      <p:sp>
        <p:nvSpPr>
          <p:cNvPr id="28" name="Cell28"/>
          <p:cNvSpPr/>
          <p:nvPr/>
        </p:nvSpPr>
        <p:spPr>
          <a:xfrm>
            <a:off x="400000" y="3250000"/>
            <a:ext cx="22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b="1" dirty="0">
                <a:solidFill>
                  <a:srgbClr val="B8B8CC"/>
                </a:solidFill>
              </a:rPr>
              <a:t>Estrutura</a:t>
            </a:r>
          </a:p>
        </p:txBody>
      </p:sp>
      <p:sp>
        <p:nvSpPr>
          <p:cNvPr id="29" name="Cell29"/>
          <p:cNvSpPr/>
          <p:nvPr/>
        </p:nvSpPr>
        <p:spPr>
          <a:xfrm>
            <a:off x="2650000" y="3250000"/>
            <a:ext cx="27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if/else simples</a:t>
            </a:r>
          </a:p>
        </p:txBody>
      </p:sp>
      <p:sp>
        <p:nvSpPr>
          <p:cNvPr id="30" name="Cell30"/>
          <p:cNvSpPr/>
          <p:nvPr/>
        </p:nvSpPr>
        <p:spPr>
          <a:xfrm>
            <a:off x="5400000" y="3250000"/>
            <a:ext cx="27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switch-case</a:t>
            </a:r>
          </a:p>
        </p:txBody>
      </p:sp>
      <p:sp>
        <p:nvSpPr>
          <p:cNvPr id="31" name="Cell31"/>
          <p:cNvSpPr/>
          <p:nvPr/>
        </p:nvSpPr>
        <p:spPr>
          <a:xfrm>
            <a:off x="8150000" y="3250000"/>
            <a:ext cx="32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Módulos + SM</a:t>
            </a:r>
          </a:p>
        </p:txBody>
      </p:sp>
      <p:sp>
        <p:nvSpPr>
          <p:cNvPr id="32" name="Cell32"/>
          <p:cNvSpPr/>
          <p:nvPr/>
        </p:nvSpPr>
        <p:spPr>
          <a:xfrm>
            <a:off x="400000" y="3950000"/>
            <a:ext cx="22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b="1" dirty="0">
                <a:solidFill>
                  <a:srgbClr val="B8B8CC"/>
                </a:solidFill>
              </a:rPr>
              <a:t>Manutenção</a:t>
            </a:r>
          </a:p>
        </p:txBody>
      </p:sp>
      <p:sp>
        <p:nvSpPr>
          <p:cNvPr id="33" name="Cell33"/>
          <p:cNvSpPr/>
          <p:nvPr/>
        </p:nvSpPr>
        <p:spPr>
          <a:xfrm>
            <a:off x="2650000" y="3950000"/>
            <a:ext cx="27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★☆☆</a:t>
            </a:r>
          </a:p>
        </p:txBody>
      </p:sp>
      <p:sp>
        <p:nvSpPr>
          <p:cNvPr id="34" name="Cell34"/>
          <p:cNvSpPr/>
          <p:nvPr/>
        </p:nvSpPr>
        <p:spPr>
          <a:xfrm>
            <a:off x="5400000" y="3950000"/>
            <a:ext cx="27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★★☆</a:t>
            </a:r>
          </a:p>
        </p:txBody>
      </p:sp>
      <p:sp>
        <p:nvSpPr>
          <p:cNvPr id="35" name="Cell35"/>
          <p:cNvSpPr/>
          <p:nvPr/>
        </p:nvSpPr>
        <p:spPr>
          <a:xfrm>
            <a:off x="8150000" y="3950000"/>
            <a:ext cx="32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★★★</a:t>
            </a:r>
          </a:p>
        </p:txBody>
      </p:sp>
      <p:sp>
        <p:nvSpPr>
          <p:cNvPr id="36" name="Cell36"/>
          <p:cNvSpPr/>
          <p:nvPr/>
        </p:nvSpPr>
        <p:spPr>
          <a:xfrm>
            <a:off x="400000" y="4650000"/>
            <a:ext cx="22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b="1" dirty="0">
                <a:solidFill>
                  <a:srgbClr val="B8B8CC"/>
                </a:solidFill>
              </a:rPr>
              <a:t>Escalabilidade</a:t>
            </a:r>
          </a:p>
        </p:txBody>
      </p:sp>
      <p:sp>
        <p:nvSpPr>
          <p:cNvPr id="37" name="Cell37"/>
          <p:cNvSpPr/>
          <p:nvPr/>
        </p:nvSpPr>
        <p:spPr>
          <a:xfrm>
            <a:off x="2650000" y="4650000"/>
            <a:ext cx="27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★☆☆</a:t>
            </a:r>
          </a:p>
        </p:txBody>
      </p:sp>
      <p:sp>
        <p:nvSpPr>
          <p:cNvPr id="38" name="Cell38"/>
          <p:cNvSpPr/>
          <p:nvPr/>
        </p:nvSpPr>
        <p:spPr>
          <a:xfrm>
            <a:off x="5400000" y="4650000"/>
            <a:ext cx="27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★★☆</a:t>
            </a:r>
          </a:p>
        </p:txBody>
      </p:sp>
      <p:sp>
        <p:nvSpPr>
          <p:cNvPr id="39" name="Cell39"/>
          <p:cNvSpPr/>
          <p:nvPr/>
        </p:nvSpPr>
        <p:spPr>
          <a:xfrm>
            <a:off x="8150000" y="4650000"/>
            <a:ext cx="3200000" cy="65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★★★</a:t>
            </a:r>
          </a:p>
        </p:txBody>
      </p:sp>
      <p:sp>
        <p:nvSpPr>
          <p:cNvPr id="40" name="Cell40"/>
          <p:cNvSpPr/>
          <p:nvPr/>
        </p:nvSpPr>
        <p:spPr>
          <a:xfrm>
            <a:off x="400000" y="5350000"/>
            <a:ext cx="22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b="1" dirty="0">
                <a:solidFill>
                  <a:srgbClr val="B8B8CC"/>
                </a:solidFill>
              </a:rPr>
              <a:t>Uso Típico</a:t>
            </a:r>
          </a:p>
        </p:txBody>
      </p:sp>
      <p:sp>
        <p:nvSpPr>
          <p:cNvPr id="41" name="Cell41"/>
          <p:cNvSpPr/>
          <p:nvPr/>
        </p:nvSpPr>
        <p:spPr>
          <a:xfrm>
            <a:off x="2650000" y="5350000"/>
            <a:ext cx="27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Blink LED
Botão simples</a:t>
            </a:r>
          </a:p>
        </p:txBody>
      </p:sp>
      <p:sp>
        <p:nvSpPr>
          <p:cNvPr id="42" name="Cell42"/>
          <p:cNvSpPr/>
          <p:nvPr/>
        </p:nvSpPr>
        <p:spPr>
          <a:xfrm>
            <a:off x="5400000" y="5350000"/>
            <a:ext cx="27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Controle processo
Menu LCD</a:t>
            </a:r>
          </a:p>
        </p:txBody>
      </p:sp>
      <p:sp>
        <p:nvSpPr>
          <p:cNvPr id="43" name="Cell43"/>
          <p:cNvSpPr/>
          <p:nvPr/>
        </p:nvSpPr>
        <p:spPr>
          <a:xfrm>
            <a:off x="8150000" y="5350000"/>
            <a:ext cx="3200000" cy="65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100" dirty="0">
                <a:solidFill>
                  <a:srgbClr val="D0D0E0"/>
                </a:solidFill>
              </a:rPr>
              <a:t>IoT completo
Robótica</a:t>
            </a:r>
          </a:p>
        </p:txBody>
      </p:sp>
    </p:spTree>
    <p:extLst>
      <p:ext uri="{BB962C8B-B14F-4D97-AF65-F5344CB8AC3E}">
        <p14:creationId xmlns:p14="http://schemas.microsoft.com/office/powerpoint/2010/main" val="2661046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0BE82-AF7B-0B24-BCBD-52F515E8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Interrupções na ESP32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B244A3-653A-0DA7-6822-0C84E556F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GPIO Interrupts • Timer Interrupts • Polling vs Interrupt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4124884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B9565-5D80-0EC7-7FFA-838109FC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Polling vs Interrupção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54592-0297-8A7B-1BE9-78E45F4511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FF6B6B"/>
                </a:solidFill>
              </a:rPr>
              <a:t>Polling</a:t>
            </a:r>
          </a:p>
          <a:p>
            <a:pPr algn="ctr">
              <a:buNone/>
            </a:pPr>
            <a:r>
              <a:rPr lang="pt-BR" sz="1400" dirty="0">
                <a:solidFill>
                  <a:srgbClr val="B8B8CC"/>
                </a:solidFill>
              </a:rPr>
              <a:t>"Verifica constantemente"</a:t>
            </a:r>
          </a:p>
          <a:p>
            <a:pPr marL="342900" indent="-228600">
              <a:spcBef>
                <a:spcPts val="200"/>
              </a:spcBef>
              <a:buFont typeface="Arial"/>
              <a:buChar char="✖"/>
            </a:pPr>
            <a:r>
              <a:rPr lang="pt-BR" sz="1400" dirty="0">
                <a:solidFill>
                  <a:srgbClr val="D0D0E0"/>
                </a:solidFill>
              </a:rPr>
              <a:t>CPU verifica a cada loop</a:t>
            </a:r>
          </a:p>
          <a:p>
            <a:pPr marL="342900" indent="-228600">
              <a:spcBef>
                <a:spcPts val="200"/>
              </a:spcBef>
              <a:buFont typeface="Arial"/>
              <a:buChar char="✖"/>
            </a:pPr>
            <a:r>
              <a:rPr lang="pt-BR" sz="1400" dirty="0">
                <a:solidFill>
                  <a:srgbClr val="D0D0E0"/>
                </a:solidFill>
              </a:rPr>
              <a:t>Gasta ciclos de CPU</a:t>
            </a:r>
          </a:p>
          <a:p>
            <a:pPr marL="342900" indent="-228600">
              <a:spcBef>
                <a:spcPts val="200"/>
              </a:spcBef>
              <a:buFont typeface="Arial"/>
              <a:buChar char="✖"/>
            </a:pPr>
            <a:r>
              <a:rPr lang="pt-BR" sz="1400" dirty="0">
                <a:solidFill>
                  <a:srgbClr val="D0D0E0"/>
                </a:solidFill>
              </a:rPr>
              <a:t>Pode perder eventos rápidos</a:t>
            </a:r>
          </a:p>
          <a:p>
            <a:pPr marL="342900" indent="-228600">
              <a:spcBef>
                <a:spcPts val="200"/>
              </a:spcBef>
              <a:buFont typeface="Arial"/>
              <a:buChar char="✖"/>
            </a:pPr>
            <a:r>
              <a:rPr lang="pt-BR" sz="1400" dirty="0">
                <a:solidFill>
                  <a:srgbClr val="D0D0E0"/>
                </a:solidFill>
              </a:rPr>
              <a:t>Latência variável</a:t>
            </a:r>
          </a:p>
          <a:p>
            <a:pPr algn="ctr">
              <a:buNone/>
            </a:pPr>
            <a:r>
              <a:rPr lang="pt-BR" sz="1400" dirty="0">
                <a:solidFill>
                  <a:srgbClr val="FF6B6B"/>
                </a:solidFill>
                <a:latin typeface="Consolas"/>
              </a:rPr>
              <a:t>if(digitalRead(BTN))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130D65-4DC2-9B88-A2A5-9D23816B48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rgbClr val="00D9A6"/>
                </a:solidFill>
              </a:rPr>
              <a:t>Interrupção</a:t>
            </a:r>
          </a:p>
          <a:p>
            <a:pPr algn="ctr">
              <a:buNone/>
            </a:pPr>
            <a:r>
              <a:rPr lang="pt-BR" sz="1400" dirty="0">
                <a:solidFill>
                  <a:srgbClr val="B8B8CC"/>
                </a:solidFill>
              </a:rPr>
              <a:t>"Reage quando acontece"</a:t>
            </a:r>
          </a:p>
          <a:p>
            <a:pPr marL="342900" indent="-228600">
              <a:spcBef>
                <a:spcPts val="200"/>
              </a:spcBef>
              <a:buFont typeface="Arial"/>
              <a:buChar char="✔"/>
            </a:pPr>
            <a:r>
              <a:rPr lang="pt-BR" sz="1400" dirty="0">
                <a:solidFill>
                  <a:srgbClr val="D0D0E0"/>
                </a:solidFill>
              </a:rPr>
              <a:t>CPU livre até o evento</a:t>
            </a:r>
          </a:p>
          <a:p>
            <a:pPr marL="342900" indent="-228600">
              <a:spcBef>
                <a:spcPts val="200"/>
              </a:spcBef>
              <a:buFont typeface="Arial"/>
              <a:buChar char="✔"/>
            </a:pPr>
            <a:r>
              <a:rPr lang="pt-BR" sz="1400" dirty="0">
                <a:solidFill>
                  <a:srgbClr val="D0D0E0"/>
                </a:solidFill>
              </a:rPr>
              <a:t>Resposta imediata (~µs)</a:t>
            </a:r>
          </a:p>
          <a:p>
            <a:pPr marL="342900" indent="-228600">
              <a:spcBef>
                <a:spcPts val="200"/>
              </a:spcBef>
              <a:buFont typeface="Arial"/>
              <a:buChar char="✔"/>
            </a:pPr>
            <a:r>
              <a:rPr lang="pt-BR" sz="1400" dirty="0">
                <a:solidFill>
                  <a:srgbClr val="D0D0E0"/>
                </a:solidFill>
              </a:rPr>
              <a:t>Nunca perde eventos</a:t>
            </a:r>
          </a:p>
          <a:p>
            <a:pPr marL="342900" indent="-228600">
              <a:spcBef>
                <a:spcPts val="200"/>
              </a:spcBef>
              <a:buFont typeface="Arial"/>
              <a:buChar char="✔"/>
            </a:pPr>
            <a:r>
              <a:rPr lang="pt-BR" sz="1400" dirty="0">
                <a:solidFill>
                  <a:srgbClr val="D0D0E0"/>
                </a:solidFill>
              </a:rPr>
              <a:t>Latência baixa e constante</a:t>
            </a:r>
          </a:p>
          <a:p>
            <a:pPr algn="ctr">
              <a:buNone/>
            </a:pPr>
            <a:r>
              <a:rPr lang="pt-BR" sz="1400" dirty="0">
                <a:solidFill>
                  <a:srgbClr val="00D9A6"/>
                </a:solidFill>
                <a:latin typeface="Consolas"/>
              </a:rPr>
              <a:t>attachInterrupt()</a:t>
            </a:r>
          </a:p>
        </p:txBody>
      </p:sp>
    </p:spTree>
    <p:extLst>
      <p:ext uri="{BB962C8B-B14F-4D97-AF65-F5344CB8AC3E}">
        <p14:creationId xmlns:p14="http://schemas.microsoft.com/office/powerpoint/2010/main" val="643211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7FD8A-2879-3A6C-8E81-7E65B46B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Interrupção GPIO: Como Funciona</a:t>
            </a:r>
          </a:p>
        </p:txBody>
      </p:sp>
      <p:sp>
        <p:nvSpPr>
          <p:cNvPr id="10" name="B10"/>
          <p:cNvSpPr/>
          <p:nvPr/>
        </p:nvSpPr>
        <p:spPr>
          <a:xfrm>
            <a:off x="400000" y="2000000"/>
            <a:ext cx="1500000" cy="8000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300" b="1" dirty="0">
                <a:solidFill>
                  <a:srgbClr val="FFFFFF"/>
                </a:solidFill>
              </a:rPr>
              <a:t>Botão
Pressionado</a:t>
            </a:r>
          </a:p>
        </p:txBody>
      </p:sp>
      <p:sp>
        <p:nvSpPr>
          <p:cNvPr id="11" name="B11"/>
          <p:cNvSpPr/>
          <p:nvPr/>
        </p:nvSpPr>
        <p:spPr>
          <a:xfrm>
            <a:off x="1900000" y="2200000"/>
            <a:ext cx="800000" cy="400000"/>
          </a:xfrm>
          <a:prstGeom prst="rightArrow">
            <a:avLst/>
          </a:prstGeom>
          <a:solidFill>
            <a:srgbClr val="FF6B6B">
              <a:alpha val="4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endParaRPr/>
          </a:p>
        </p:txBody>
      </p:sp>
      <p:sp>
        <p:nvSpPr>
          <p:cNvPr id="12" name="B12"/>
          <p:cNvSpPr/>
          <p:nvPr/>
        </p:nvSpPr>
        <p:spPr>
          <a:xfrm>
            <a:off x="2700000" y="1800000"/>
            <a:ext cx="1600000" cy="12000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200" b="1" dirty="0">
                <a:solidFill>
                  <a:srgbClr val="FFFFFF"/>
                </a:solidFill>
              </a:rPr>
              <a:t>GPIO Pin
RISING
FALLING
CHANGE</a:t>
            </a:r>
          </a:p>
        </p:txBody>
      </p:sp>
      <p:sp>
        <p:nvSpPr>
          <p:cNvPr id="13" name="B13"/>
          <p:cNvSpPr/>
          <p:nvPr/>
        </p:nvSpPr>
        <p:spPr>
          <a:xfrm>
            <a:off x="4300000" y="2200000"/>
            <a:ext cx="800000" cy="400000"/>
          </a:xfrm>
          <a:prstGeom prst="rightArrow">
            <a:avLst/>
          </a:prstGeom>
          <a:solidFill>
            <a:srgbClr val="6C63FF">
              <a:alpha val="4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endParaRPr/>
          </a:p>
        </p:txBody>
      </p:sp>
      <p:sp>
        <p:nvSpPr>
          <p:cNvPr id="14" name="B14"/>
          <p:cNvSpPr/>
          <p:nvPr/>
        </p:nvSpPr>
        <p:spPr>
          <a:xfrm>
            <a:off x="5100000" y="1800000"/>
            <a:ext cx="2200000" cy="12000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b="1" dirty="0">
                <a:solidFill>
                  <a:srgbClr val="12131A"/>
                </a:solidFill>
              </a:rPr>
              <a:t>ISR (IRAM_ATTR)
• Curta e rápida
• Seta flag = true
• Sem Serial/delay</a:t>
            </a:r>
          </a:p>
        </p:txBody>
      </p:sp>
      <p:sp>
        <p:nvSpPr>
          <p:cNvPr id="15" name="B15"/>
          <p:cNvSpPr/>
          <p:nvPr/>
        </p:nvSpPr>
        <p:spPr>
          <a:xfrm>
            <a:off x="7300000" y="2200000"/>
            <a:ext cx="800000" cy="400000"/>
          </a:xfrm>
          <a:prstGeom prst="rightArrow">
            <a:avLst/>
          </a:prstGeom>
          <a:solidFill>
            <a:srgbClr val="FFC857">
              <a:alpha val="40000"/>
            </a:srgbClr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endParaRPr/>
          </a:p>
        </p:txBody>
      </p:sp>
      <p:sp>
        <p:nvSpPr>
          <p:cNvPr id="16" name="B16"/>
          <p:cNvSpPr/>
          <p:nvPr/>
        </p:nvSpPr>
        <p:spPr>
          <a:xfrm>
            <a:off x="8100000" y="1800000"/>
            <a:ext cx="2200000" cy="1200000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b="1" dirty="0">
                <a:solidFill>
                  <a:srgbClr val="FFFFFF"/>
                </a:solidFill>
              </a:rPr>
              <a:t>loop()
• Verifica flag
• Processa evento
• Reseta flag</a:t>
            </a:r>
          </a:p>
        </p:txBody>
      </p:sp>
      <p:sp>
        <p:nvSpPr>
          <p:cNvPr id="20" name="B20"/>
          <p:cNvSpPr/>
          <p:nvPr/>
        </p:nvSpPr>
        <p:spPr>
          <a:xfrm>
            <a:off x="400000" y="3500000"/>
            <a:ext cx="5000000" cy="500000"/>
          </a:xfrm>
          <a:prstGeom prst="roundRect">
            <a:avLst/>
          </a:prstGeom>
          <a:solidFill>
            <a:srgbClr val="1C1D2B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b="1" dirty="0">
                <a:solidFill>
                  <a:srgbClr val="FFC857"/>
                </a:solidFill>
              </a:rPr>
              <a:t>⚠ ISR deve ser IRAM_ATTR na ESP32
⚠ Use volatile para variáveis compartilhadas</a:t>
            </a:r>
          </a:p>
        </p:txBody>
      </p:sp>
      <p:sp>
        <p:nvSpPr>
          <p:cNvPr id="21" name="B21"/>
          <p:cNvSpPr/>
          <p:nvPr/>
        </p:nvSpPr>
        <p:spPr>
          <a:xfrm>
            <a:off x="5500000" y="3500000"/>
            <a:ext cx="5000000" cy="500000"/>
          </a:xfrm>
          <a:prstGeom prst="roundRect">
            <a:avLst/>
          </a:prstGeom>
          <a:solidFill>
            <a:srgbClr val="1C1D2B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100" dirty="0">
                <a:solidFill>
                  <a:srgbClr val="4ECDC4"/>
                </a:solidFill>
              </a:rPr>
              <a:t>Modos: RISING, FALLING, CHANGE,
LOW, HIGH (ESP32 suporta todos)</a:t>
            </a:r>
          </a:p>
        </p:txBody>
      </p:sp>
      <p:sp>
        <p:nvSpPr>
          <p:cNvPr id="30" name="B30"/>
          <p:cNvSpPr/>
          <p:nvPr/>
        </p:nvSpPr>
        <p:spPr>
          <a:xfrm>
            <a:off x="400000" y="4300000"/>
            <a:ext cx="10600000" cy="350000"/>
          </a:xfrm>
          <a:prstGeom prst="rect">
            <a:avLst/>
          </a:prstGeom>
          <a:solidFill>
            <a:srgbClr val="22233A"/>
          </a:solidFill>
          <a:ln>
            <a:noFill/>
          </a:ln>
        </p:spPr>
        <p:txBody>
          <a:bodyPr lIns="45000" tIns="18000" rIns="45000" bIns="18000" anchor="ctr" anchorCtr="1"/>
          <a:lstStyle/>
          <a:p>
            <a:pPr algn="ctr"/>
            <a:r>
              <a:rPr lang="pt-BR" sz="1000" dirty="0">
                <a:solidFill>
                  <a:srgbClr val="B8B8CC"/>
                </a:solidFill>
              </a:rPr>
              <a:t>Tempo →  |  loop rodando...  |  ⚡ ISR (2µs)  |  loop continua...  |  processa evento  |  loop rodando...</a:t>
            </a:r>
          </a:p>
        </p:txBody>
      </p:sp>
    </p:spTree>
    <p:extLst>
      <p:ext uri="{BB962C8B-B14F-4D97-AF65-F5344CB8AC3E}">
        <p14:creationId xmlns:p14="http://schemas.microsoft.com/office/powerpoint/2010/main" val="831878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A30D9-42E1-31E8-19BA-28E6E92E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/>
              <a:t>Interrupção por Timer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3308F-6DAD-6C8A-6F1A-C76F5C5A0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>
                <a:solidFill>
                  <a:srgbClr val="B8B8CC"/>
                </a:solidFill>
              </a:rPr>
              <a:t>Timer Interrupts geram interrupções em </a:t>
            </a:r>
            <a:r>
              <a:rPr lang="pt-BR" sz="1500" b="1" dirty="0">
                <a:solidFill>
                  <a:srgbClr val="4ECDC4"/>
                </a:solidFill>
              </a:rPr>
              <a:t>intervalos precisos</a:t>
            </a:r>
            <a:r>
              <a:rPr lang="pt-BR" sz="1500" dirty="0">
                <a:solidFill>
                  <a:srgbClr val="B8B8CC"/>
                </a:solidFill>
              </a:rPr>
              <a:t> de hardware.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6C63FF"/>
                </a:solidFill>
              </a:rPr>
              <a:t>Características da ESP32: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4 timers de hardware (64 bits cada)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Clock base: </a:t>
            </a:r>
            <a:r>
              <a:rPr lang="pt-BR" sz="1400" b="1" dirty="0">
                <a:solidFill>
                  <a:srgbClr val="FFC857"/>
                </a:solidFill>
                <a:latin typeface="Consolas"/>
              </a:rPr>
              <a:t>80 MHz</a:t>
            </a:r>
            <a:r>
              <a:rPr lang="pt-BR" sz="1400" dirty="0">
                <a:solidFill>
                  <a:srgbClr val="D0D0E0"/>
                </a:solidFill>
              </a:rPr>
              <a:t> (prescaler configurável)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Precisão de </a:t>
            </a:r>
            <a:r>
              <a:rPr lang="pt-BR" sz="1400" b="1" dirty="0">
                <a:solidFill>
                  <a:srgbClr val="00D9A6"/>
                </a:solidFill>
              </a:rPr>
              <a:t>microsegundos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Modo: auto-reload (periódico) ou one-shot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00D9A6"/>
                </a:solidFill>
              </a:rPr>
              <a:t>Uso típico: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Amostragem precisa de ADC (ex: 10kHz)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Geração de PWM por software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Watchdog personalizado, timeout de comunicação</a:t>
            </a:r>
          </a:p>
        </p:txBody>
      </p:sp>
    </p:spTree>
    <p:extLst>
      <p:ext uri="{BB962C8B-B14F-4D97-AF65-F5344CB8AC3E}">
        <p14:creationId xmlns:p14="http://schemas.microsoft.com/office/powerpoint/2010/main" val="3802595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45F4-B1D5-587E-0F9D-C2E6BFB9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Timer vs IO Interrupt
&amp; Código Prático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322318-E8AE-759F-8C6F-90EEF0A99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33963"/>
            <a:ext cx="10515600" cy="1500187"/>
          </a:xfrm>
        </p:spPr>
        <p:txBody>
          <a:bodyPr>
            <a:normAutofit/>
          </a:bodyPr>
          <a:lstStyle/>
          <a:p>
            <a:r>
              <a:rPr lang="pt-BR" sz="1800"/>
              <a:t>Comparação técnica • PlatformIO + ESP32</a:t>
            </a:r>
          </a:p>
        </p:txBody>
      </p:sp>
    </p:spTree>
    <p:extLst>
      <p:ext uri="{BB962C8B-B14F-4D97-AF65-F5344CB8AC3E}">
        <p14:creationId xmlns:p14="http://schemas.microsoft.com/office/powerpoint/2010/main" val="3003300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07AA0-C7C0-E007-5EF8-489A2011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Timer vs GPIO Interrupt</a:t>
            </a:r>
          </a:p>
        </p:txBody>
      </p:sp>
      <p:sp>
        <p:nvSpPr>
          <p:cNvPr id="10" name="C10"/>
          <p:cNvSpPr/>
          <p:nvPr/>
        </p:nvSpPr>
        <p:spPr>
          <a:xfrm>
            <a:off x="500000" y="1250000"/>
            <a:ext cx="2500000" cy="500000"/>
          </a:xfrm>
          <a:prstGeom prst="roundRect">
            <a:avLst/>
          </a:prstGeom>
          <a:solidFill>
            <a:srgbClr val="2A2B3D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300" b="1" dirty="0">
                <a:solidFill>
                  <a:srgbClr val="B8B8CC"/>
                </a:solidFill>
              </a:rPr>
              <a:t>Característica</a:t>
            </a:r>
          </a:p>
        </p:txBody>
      </p:sp>
      <p:sp>
        <p:nvSpPr>
          <p:cNvPr id="11" name="C11"/>
          <p:cNvSpPr/>
          <p:nvPr/>
        </p:nvSpPr>
        <p:spPr>
          <a:xfrm>
            <a:off x="3050000" y="1250000"/>
            <a:ext cx="4000000" cy="500000"/>
          </a:xfrm>
          <a:prstGeom prst="roundRect">
            <a:avLst/>
          </a:prstGeom>
          <a:solidFill>
            <a:srgbClr val="6C63FF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300" b="1" dirty="0">
                <a:solidFill>
                  <a:srgbClr val="FFFFFF"/>
                </a:solidFill>
              </a:rPr>
              <a:t>GPIO Interrupt</a:t>
            </a:r>
          </a:p>
        </p:txBody>
      </p:sp>
      <p:sp>
        <p:nvSpPr>
          <p:cNvPr id="12" name="C12"/>
          <p:cNvSpPr/>
          <p:nvPr/>
        </p:nvSpPr>
        <p:spPr>
          <a:xfrm>
            <a:off x="7100000" y="1250000"/>
            <a:ext cx="4000000" cy="500000"/>
          </a:xfrm>
          <a:prstGeom prst="roundRect">
            <a:avLst/>
          </a:prstGeom>
          <a:solidFill>
            <a:srgbClr val="4ECDC4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300" b="1" dirty="0">
                <a:solidFill>
                  <a:srgbClr val="FFFFFF"/>
                </a:solidFill>
              </a:rPr>
              <a:t>Timer Interrupt</a:t>
            </a:r>
          </a:p>
        </p:txBody>
      </p:sp>
      <p:sp>
        <p:nvSpPr>
          <p:cNvPr id="20" name="C20"/>
          <p:cNvSpPr/>
          <p:nvPr/>
        </p:nvSpPr>
        <p:spPr>
          <a:xfrm>
            <a:off x="500000" y="1800000"/>
            <a:ext cx="25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b="1" dirty="0">
                <a:solidFill>
                  <a:srgbClr val="B8B8CC"/>
                </a:solidFill>
              </a:rPr>
              <a:t>Gatilho</a:t>
            </a:r>
          </a:p>
        </p:txBody>
      </p:sp>
      <p:sp>
        <p:nvSpPr>
          <p:cNvPr id="21" name="C21"/>
          <p:cNvSpPr/>
          <p:nvPr/>
        </p:nvSpPr>
        <p:spPr>
          <a:xfrm>
            <a:off x="3050000" y="1800000"/>
            <a:ext cx="40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Evento externo
(botão, sensor)</a:t>
            </a:r>
          </a:p>
        </p:txBody>
      </p:sp>
      <p:sp>
        <p:nvSpPr>
          <p:cNvPr id="22" name="C22"/>
          <p:cNvSpPr/>
          <p:nvPr/>
        </p:nvSpPr>
        <p:spPr>
          <a:xfrm>
            <a:off x="7100000" y="1800000"/>
            <a:ext cx="40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Tempo decorrido
(periódico)</a:t>
            </a:r>
          </a:p>
        </p:txBody>
      </p:sp>
      <p:sp>
        <p:nvSpPr>
          <p:cNvPr id="23" name="C23"/>
          <p:cNvSpPr/>
          <p:nvPr/>
        </p:nvSpPr>
        <p:spPr>
          <a:xfrm>
            <a:off x="500000" y="2470000"/>
            <a:ext cx="25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b="1" dirty="0">
                <a:solidFill>
                  <a:srgbClr val="B8B8CC"/>
                </a:solidFill>
              </a:rPr>
              <a:t>Precisão</a:t>
            </a:r>
          </a:p>
        </p:txBody>
      </p:sp>
      <p:sp>
        <p:nvSpPr>
          <p:cNvPr id="24" name="C24"/>
          <p:cNvSpPr/>
          <p:nvPr/>
        </p:nvSpPr>
        <p:spPr>
          <a:xfrm>
            <a:off x="3050000" y="2470000"/>
            <a:ext cx="40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Depende do debounce
~1-50ms</a:t>
            </a:r>
          </a:p>
        </p:txBody>
      </p:sp>
      <p:sp>
        <p:nvSpPr>
          <p:cNvPr id="25" name="C25"/>
          <p:cNvSpPr/>
          <p:nvPr/>
        </p:nvSpPr>
        <p:spPr>
          <a:xfrm>
            <a:off x="7100000" y="2470000"/>
            <a:ext cx="40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Hardware clock
~1µs</a:t>
            </a:r>
          </a:p>
        </p:txBody>
      </p:sp>
      <p:sp>
        <p:nvSpPr>
          <p:cNvPr id="26" name="C26"/>
          <p:cNvSpPr/>
          <p:nvPr/>
        </p:nvSpPr>
        <p:spPr>
          <a:xfrm>
            <a:off x="500000" y="3140000"/>
            <a:ext cx="25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b="1" dirty="0">
                <a:solidFill>
                  <a:srgbClr val="B8B8CC"/>
                </a:solidFill>
              </a:rPr>
              <a:t>Latência</a:t>
            </a:r>
          </a:p>
        </p:txBody>
      </p:sp>
      <p:sp>
        <p:nvSpPr>
          <p:cNvPr id="27" name="C27"/>
          <p:cNvSpPr/>
          <p:nvPr/>
        </p:nvSpPr>
        <p:spPr>
          <a:xfrm>
            <a:off x="3050000" y="3140000"/>
            <a:ext cx="40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Baixa (~2-5µs)
Depende do evento</a:t>
            </a:r>
          </a:p>
        </p:txBody>
      </p:sp>
      <p:sp>
        <p:nvSpPr>
          <p:cNvPr id="28" name="C28"/>
          <p:cNvSpPr/>
          <p:nvPr/>
        </p:nvSpPr>
        <p:spPr>
          <a:xfrm>
            <a:off x="7100000" y="3140000"/>
            <a:ext cx="40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Muito baixa (~1-2µs)
Previsível</a:t>
            </a:r>
          </a:p>
        </p:txBody>
      </p:sp>
      <p:sp>
        <p:nvSpPr>
          <p:cNvPr id="29" name="C29"/>
          <p:cNvSpPr/>
          <p:nvPr/>
        </p:nvSpPr>
        <p:spPr>
          <a:xfrm>
            <a:off x="500000" y="3810000"/>
            <a:ext cx="25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b="1" dirty="0">
                <a:solidFill>
                  <a:srgbClr val="B8B8CC"/>
                </a:solidFill>
              </a:rPr>
              <a:t>Uso Típico</a:t>
            </a:r>
          </a:p>
        </p:txBody>
      </p:sp>
      <p:sp>
        <p:nvSpPr>
          <p:cNvPr id="30" name="C30"/>
          <p:cNvSpPr/>
          <p:nvPr/>
        </p:nvSpPr>
        <p:spPr>
          <a:xfrm>
            <a:off x="3050000" y="3810000"/>
            <a:ext cx="40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Botões, encoders
Sensores digitais</a:t>
            </a:r>
          </a:p>
        </p:txBody>
      </p:sp>
      <p:sp>
        <p:nvSpPr>
          <p:cNvPr id="31" name="C31"/>
          <p:cNvSpPr/>
          <p:nvPr/>
        </p:nvSpPr>
        <p:spPr>
          <a:xfrm>
            <a:off x="7100000" y="3810000"/>
            <a:ext cx="40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Amostragem ADC
PWM, Watchdog</a:t>
            </a:r>
          </a:p>
        </p:txBody>
      </p:sp>
      <p:sp>
        <p:nvSpPr>
          <p:cNvPr id="32" name="C32"/>
          <p:cNvSpPr/>
          <p:nvPr/>
        </p:nvSpPr>
        <p:spPr>
          <a:xfrm>
            <a:off x="500000" y="4480000"/>
            <a:ext cx="25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b="1" dirty="0">
                <a:solidFill>
                  <a:srgbClr val="B8B8CC"/>
                </a:solidFill>
              </a:rPr>
              <a:t>Vantagem</a:t>
            </a:r>
          </a:p>
        </p:txBody>
      </p:sp>
      <p:sp>
        <p:nvSpPr>
          <p:cNvPr id="33" name="C33"/>
          <p:cNvSpPr/>
          <p:nvPr/>
        </p:nvSpPr>
        <p:spPr>
          <a:xfrm>
            <a:off x="3050000" y="4480000"/>
            <a:ext cx="40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Reativo a eventos
Baixo consumo</a:t>
            </a:r>
          </a:p>
        </p:txBody>
      </p:sp>
      <p:sp>
        <p:nvSpPr>
          <p:cNvPr id="34" name="C34"/>
          <p:cNvSpPr/>
          <p:nvPr/>
        </p:nvSpPr>
        <p:spPr>
          <a:xfrm>
            <a:off x="7100000" y="4480000"/>
            <a:ext cx="4000000" cy="620000"/>
          </a:xfrm>
          <a:prstGeom prst="roundRect">
            <a:avLst/>
          </a:prstGeom>
          <a:solidFill>
            <a:srgbClr val="1C1D2B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Alta precisão temporal
Determinístico</a:t>
            </a:r>
          </a:p>
        </p:txBody>
      </p:sp>
      <p:sp>
        <p:nvSpPr>
          <p:cNvPr id="35" name="C35"/>
          <p:cNvSpPr/>
          <p:nvPr/>
        </p:nvSpPr>
        <p:spPr>
          <a:xfrm>
            <a:off x="500000" y="5150000"/>
            <a:ext cx="25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b="1" dirty="0">
                <a:solidFill>
                  <a:srgbClr val="B8B8CC"/>
                </a:solidFill>
              </a:rPr>
              <a:t>Limitação</a:t>
            </a:r>
          </a:p>
        </p:txBody>
      </p:sp>
      <p:sp>
        <p:nvSpPr>
          <p:cNvPr id="36" name="C36"/>
          <p:cNvSpPr/>
          <p:nvPr/>
        </p:nvSpPr>
        <p:spPr>
          <a:xfrm>
            <a:off x="3050000" y="5150000"/>
            <a:ext cx="40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Bounce mecânico
Ruído elétrico</a:t>
            </a:r>
          </a:p>
        </p:txBody>
      </p:sp>
      <p:sp>
        <p:nvSpPr>
          <p:cNvPr id="37" name="C37"/>
          <p:cNvSpPr/>
          <p:nvPr/>
        </p:nvSpPr>
        <p:spPr>
          <a:xfrm>
            <a:off x="7100000" y="5150000"/>
            <a:ext cx="4000000" cy="620000"/>
          </a:xfrm>
          <a:prstGeom prst="roundRect">
            <a:avLst/>
          </a:prstGeom>
          <a:solidFill>
            <a:srgbClr val="22233A"/>
          </a:solidFill>
          <a:ln w="9525">
            <a:solidFill>
              <a:srgbClr val="2A2B3D"/>
            </a:solidFill>
          </a:ln>
        </p:spPr>
        <p:txBody>
          <a:bodyPr lIns="54000" tIns="27000" rIns="54000" bIns="27000" anchor="ctr" anchorCtr="1"/>
          <a:lstStyle/>
          <a:p>
            <a:pPr algn="ctr"/>
            <a:r>
              <a:rPr lang="pt-BR" sz="1000" dirty="0">
                <a:solidFill>
                  <a:srgbClr val="D0D0E0"/>
                </a:solidFill>
              </a:rPr>
              <a:t>Nº limitado (4 timers)
Consumo contínuo</a:t>
            </a:r>
          </a:p>
        </p:txBody>
      </p:sp>
    </p:spTree>
    <p:extLst>
      <p:ext uri="{BB962C8B-B14F-4D97-AF65-F5344CB8AC3E}">
        <p14:creationId xmlns:p14="http://schemas.microsoft.com/office/powerpoint/2010/main" val="2210735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9FE57-5E0E-5853-159A-AF57FD34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Código: millis() &amp; GPIO Interrupt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D5EE1E-B43D-6F05-374F-F06D5E878B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00D9A6"/>
                </a:solidFill>
              </a:rPr>
              <a:t>Controle com millis()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const int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LED = 2;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unsigned long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prev=0;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bool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state=false;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 setup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pinMode(LED,OUTPUT);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 loop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</a:t>
            </a:r>
            <a:r>
              <a:rPr lang="pt-BR" sz="1000" dirty="0">
                <a:solidFill>
                  <a:srgbClr val="4ECDC4"/>
                </a:solidFill>
                <a:latin typeface="Consolas"/>
              </a:rPr>
              <a:t>if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(millis()-prev&gt;=500){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prev=millis();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state=</a:t>
            </a:r>
            <a:r>
              <a:rPr lang="pt-BR" sz="1000" b="1" dirty="0">
                <a:solidFill>
                  <a:srgbClr val="00D9A6"/>
                </a:solidFill>
                <a:latin typeface="Consolas"/>
              </a:rPr>
              <a:t>!state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digitalWrite(LED,state);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}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29A079-2F17-7C47-EA6B-6D6338DBA9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FFC857"/>
                </a:solidFill>
              </a:rPr>
              <a:t>Interrupção GPIO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volatile bool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btnFlag=false;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const int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BTN=4, LED=2;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void </a:t>
            </a:r>
            <a:r>
              <a:rPr lang="pt-BR" sz="1000" b="1" dirty="0">
                <a:solidFill>
                  <a:srgbClr val="FFC857"/>
                </a:solidFill>
                <a:latin typeface="Consolas"/>
              </a:rPr>
              <a:t>IRAM_ATTR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isr(){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btnFlag=</a:t>
            </a:r>
            <a:r>
              <a:rPr lang="pt-BR" sz="1000" b="1" dirty="0">
                <a:solidFill>
                  <a:srgbClr val="FF6B6B"/>
                </a:solidFill>
                <a:latin typeface="Consolas"/>
              </a:rPr>
              <a:t>true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 setup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pinMode(BTN,INPUT_PULLUP);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pinMode(LED,OUTPUT);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</a:t>
            </a:r>
            <a:r>
              <a:rPr lang="pt-BR" sz="1000" b="1" dirty="0">
                <a:solidFill>
                  <a:srgbClr val="00D9A6"/>
                </a:solidFill>
                <a:latin typeface="Consolas"/>
              </a:rPr>
              <a:t>attachInterrupt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(BTN,isr,FALLING);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 loop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</a:t>
            </a:r>
            <a:r>
              <a:rPr lang="pt-BR" sz="1000" dirty="0">
                <a:solidFill>
                  <a:srgbClr val="4ECDC4"/>
                </a:solidFill>
                <a:latin typeface="Consolas"/>
              </a:rPr>
              <a:t>if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(btnFlag){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btnFlag=false;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digitalWrite(LED,!digitalRead(LED));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}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5042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378CD-4DB9-0079-69ED-DD3094BB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/>
              <a:t>Código: Timer Interrupt &amp; State Machine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A6638-A3E3-AD02-F256-26594890E4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4ECDC4"/>
                </a:solidFill>
              </a:rPr>
              <a:t>Timer Interrupt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hw_timer_t *timer=NULL;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volatile bool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tmrFlag=false;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void </a:t>
            </a:r>
            <a:r>
              <a:rPr lang="pt-BR" sz="1000" b="1" dirty="0">
                <a:solidFill>
                  <a:srgbClr val="FFC857"/>
                </a:solidFill>
                <a:latin typeface="Consolas"/>
              </a:rPr>
              <a:t>IRAM_ATTR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onTimer(){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tmrFlag=true;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 setup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(){</a:t>
            </a:r>
          </a:p>
          <a:p>
            <a:pPr algn="l">
              <a:buNone/>
            </a:pPr>
            <a:r>
              <a:rPr lang="pt-BR" sz="1000" dirty="0">
                <a:solidFill>
                  <a:srgbClr val="888899"/>
                </a:solidFill>
                <a:latin typeface="Consolas"/>
              </a:rPr>
              <a:t>  // Timer 0, prescaler 80</a:t>
            </a:r>
          </a:p>
          <a:p>
            <a:pPr algn="l">
              <a:buNone/>
            </a:pPr>
            <a:r>
              <a:rPr lang="pt-BR" sz="1000" dirty="0">
                <a:solidFill>
                  <a:srgbClr val="888899"/>
                </a:solidFill>
                <a:latin typeface="Consolas"/>
              </a:rPr>
              <a:t>  // = 1MHz (1µs/tick)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timer=</a:t>
            </a:r>
            <a:r>
              <a:rPr lang="pt-BR" sz="1000" b="1" dirty="0">
                <a:solidFill>
                  <a:srgbClr val="00D9A6"/>
                </a:solidFill>
                <a:latin typeface="Consolas"/>
              </a:rPr>
              <a:t>timerBegin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(0,80,true);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timerAttachInterrupt(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timer,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&amp;onTimer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,true);</a:t>
            </a:r>
          </a:p>
          <a:p>
            <a:pPr algn="l">
              <a:buNone/>
            </a:pPr>
            <a:r>
              <a:rPr lang="pt-BR" sz="1000" dirty="0">
                <a:solidFill>
                  <a:srgbClr val="888899"/>
                </a:solidFill>
                <a:latin typeface="Consolas"/>
              </a:rPr>
              <a:t>  // 1s = 1000000µs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timerAlarmWrite(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timer,</a:t>
            </a:r>
            <a:r>
              <a:rPr lang="pt-BR" sz="1000" b="1" dirty="0">
                <a:solidFill>
                  <a:srgbClr val="FF6B6B"/>
                </a:solidFill>
                <a:latin typeface="Consolas"/>
              </a:rPr>
              <a:t>1000000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,true);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timerAlarmEnable(timer);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9B679B-AB52-0D9B-5CF4-65F4D45BF4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pt-BR" sz="1400" b="1" dirty="0">
                <a:solidFill>
                  <a:srgbClr val="A78BFA"/>
                </a:solidFill>
              </a:rPr>
              <a:t>State Machine + millis()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enum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S{IDLE,READ,SEND};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S st=IDLE;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unsigned long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 prev=0;</a:t>
            </a:r>
          </a:p>
          <a:p>
            <a:pPr algn="l">
              <a:buNone/>
            </a:pPr>
            <a:r>
              <a:rPr lang="pt-BR" sz="1000" dirty="0">
                <a:solidFill>
                  <a:srgbClr val="A78BFA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 loop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</a:t>
            </a:r>
            <a:r>
              <a:rPr lang="pt-BR" sz="1000" dirty="0">
                <a:solidFill>
                  <a:srgbClr val="4ECDC4"/>
                </a:solidFill>
                <a:latin typeface="Consolas"/>
              </a:rPr>
              <a:t>switch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(st){</a:t>
            </a:r>
          </a:p>
          <a:p>
            <a:pPr algn="l">
              <a:buNone/>
            </a:pPr>
            <a:r>
              <a:rPr lang="pt-BR" sz="1000" dirty="0">
                <a:solidFill>
                  <a:srgbClr val="4ECDC4"/>
                </a:solidFill>
                <a:latin typeface="Consolas"/>
              </a:rPr>
              <a:t>  case</a:t>
            </a:r>
            <a:r>
              <a:rPr lang="pt-BR" sz="1000" dirty="0">
                <a:solidFill>
                  <a:srgbClr val="6C63FF"/>
                </a:solidFill>
                <a:latin typeface="Consolas"/>
              </a:rPr>
              <a:t> IDLE: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</a:t>
            </a:r>
            <a:r>
              <a:rPr lang="pt-BR" sz="1000" dirty="0">
                <a:solidFill>
                  <a:srgbClr val="4ECDC4"/>
                </a:solidFill>
                <a:latin typeface="Consolas"/>
              </a:rPr>
              <a:t>if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(millis()-prev&gt;=2000){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  st=</a:t>
            </a:r>
            <a:r>
              <a:rPr lang="pt-BR" sz="1000" b="1" dirty="0">
                <a:solidFill>
                  <a:srgbClr val="00D9A6"/>
                </a:solidFill>
                <a:latin typeface="Consolas"/>
              </a:rPr>
              <a:t>READ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;} </a:t>
            </a:r>
            <a:r>
              <a:rPr lang="pt-BR" sz="1000" dirty="0">
                <a:solidFill>
                  <a:srgbClr val="4ECDC4"/>
                </a:solidFill>
                <a:latin typeface="Consolas"/>
              </a:rPr>
              <a:t>break;</a:t>
            </a:r>
          </a:p>
          <a:p>
            <a:pPr algn="l">
              <a:buNone/>
            </a:pPr>
            <a:r>
              <a:rPr lang="pt-BR" sz="1000" dirty="0">
                <a:solidFill>
                  <a:srgbClr val="4ECDC4"/>
                </a:solidFill>
                <a:latin typeface="Consolas"/>
              </a:rPr>
              <a:t>  case</a:t>
            </a:r>
            <a:r>
              <a:rPr lang="pt-BR" sz="1000" dirty="0">
                <a:solidFill>
                  <a:srgbClr val="00D9A6"/>
                </a:solidFill>
                <a:latin typeface="Consolas"/>
              </a:rPr>
              <a:t> READ: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val=analogRead(34);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st=</a:t>
            </a:r>
            <a:r>
              <a:rPr lang="pt-BR" sz="1000" b="1" dirty="0">
                <a:solidFill>
                  <a:srgbClr val="FFC857"/>
                </a:solidFill>
                <a:latin typeface="Consolas"/>
              </a:rPr>
              <a:t>SEND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; </a:t>
            </a:r>
            <a:r>
              <a:rPr lang="pt-BR" sz="1000" dirty="0">
                <a:solidFill>
                  <a:srgbClr val="4ECDC4"/>
                </a:solidFill>
                <a:latin typeface="Consolas"/>
              </a:rPr>
              <a:t>break;</a:t>
            </a:r>
          </a:p>
          <a:p>
            <a:pPr algn="l">
              <a:buNone/>
            </a:pPr>
            <a:r>
              <a:rPr lang="pt-BR" sz="1000" dirty="0">
                <a:solidFill>
                  <a:srgbClr val="4ECDC4"/>
                </a:solidFill>
                <a:latin typeface="Consolas"/>
              </a:rPr>
              <a:t>  case</a:t>
            </a:r>
            <a:r>
              <a:rPr lang="pt-BR" sz="1000" dirty="0">
                <a:solidFill>
                  <a:srgbClr val="FFC857"/>
                </a:solidFill>
                <a:latin typeface="Consolas"/>
              </a:rPr>
              <a:t> SEND: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Serial.println(val);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prev=millis();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  st=</a:t>
            </a:r>
            <a:r>
              <a:rPr lang="pt-BR" sz="1000" b="1" dirty="0">
                <a:solidFill>
                  <a:srgbClr val="6C63FF"/>
                </a:solidFill>
                <a:latin typeface="Consolas"/>
              </a:rPr>
              <a:t>IDLE</a:t>
            </a:r>
            <a:r>
              <a:rPr lang="pt-BR" sz="1000" dirty="0">
                <a:solidFill>
                  <a:srgbClr val="D0D0E0"/>
                </a:solidFill>
                <a:latin typeface="Consolas"/>
              </a:rPr>
              <a:t>; </a:t>
            </a:r>
            <a:r>
              <a:rPr lang="pt-BR" sz="1000" dirty="0">
                <a:solidFill>
                  <a:srgbClr val="4ECDC4"/>
                </a:solidFill>
                <a:latin typeface="Consolas"/>
              </a:rPr>
              <a:t>break;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  }</a:t>
            </a:r>
          </a:p>
          <a:p>
            <a:pPr algn="l">
              <a:buNone/>
            </a:pPr>
            <a:r>
              <a:rPr lang="pt-BR" sz="1000" dirty="0">
                <a:solidFill>
                  <a:srgbClr val="D0D0E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0390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ACAC2-7E55-3ED3-7A93-CC0FFC24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/>
              <a:t>Resumo &amp; Boas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480B98-9D08-457E-1978-AED696CB1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b="1" dirty="0">
                <a:solidFill>
                  <a:srgbClr val="6C63FF"/>
                </a:solidFill>
              </a:rPr>
              <a:t>Guia de Decisão Rápida: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b="1" dirty="0">
                <a:solidFill>
                  <a:srgbClr val="FF6B6B"/>
                </a:solidFill>
              </a:rPr>
              <a:t>delay()</a:t>
            </a:r>
            <a:r>
              <a:rPr lang="pt-BR" sz="1400" dirty="0">
                <a:solidFill>
                  <a:srgbClr val="D0D0E0"/>
                </a:solidFill>
              </a:rPr>
              <a:t> → Só para debug/prototipagem rápida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b="1" dirty="0">
                <a:solidFill>
                  <a:srgbClr val="00D9A6"/>
                </a:solidFill>
              </a:rPr>
              <a:t>millis()</a:t>
            </a:r>
            <a:r>
              <a:rPr lang="pt-BR" sz="1400" dirty="0">
                <a:solidFill>
                  <a:srgbClr val="D0D0E0"/>
                </a:solidFill>
              </a:rPr>
              <a:t> → Controle de tempo não-bloqueante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b="1" dirty="0">
                <a:solidFill>
                  <a:srgbClr val="FFC857"/>
                </a:solidFill>
              </a:rPr>
              <a:t>State Machine</a:t>
            </a:r>
            <a:r>
              <a:rPr lang="pt-BR" sz="1400" dirty="0">
                <a:solidFill>
                  <a:srgbClr val="D0D0E0"/>
                </a:solidFill>
              </a:rPr>
              <a:t> → Lógica complexa + múltiplos estados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b="1" dirty="0">
                <a:solidFill>
                  <a:srgbClr val="4ECDC4"/>
                </a:solidFill>
              </a:rPr>
              <a:t>GPIO Interrupt</a:t>
            </a:r>
            <a:r>
              <a:rPr lang="pt-BR" sz="1400" dirty="0">
                <a:solidFill>
                  <a:srgbClr val="D0D0E0"/>
                </a:solidFill>
              </a:rPr>
              <a:t> → Resposta rápida a eventos externos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b="1" dirty="0">
                <a:solidFill>
                  <a:srgbClr val="A78BFA"/>
                </a:solidFill>
              </a:rPr>
              <a:t>Timer Interrupt</a:t>
            </a:r>
            <a:r>
              <a:rPr lang="pt-BR" sz="1400" dirty="0">
                <a:solidFill>
                  <a:srgbClr val="D0D0E0"/>
                </a:solidFill>
              </a:rPr>
              <a:t> → Amostragem precisa + watchdog</a:t>
            </a:r>
          </a:p>
          <a:p>
            <a:pPr marL="0" indent="0">
              <a:buNone/>
            </a:pPr>
            <a:r>
              <a:rPr lang="pt-BR" sz="1600" b="1" dirty="0">
                <a:solidFill>
                  <a:srgbClr val="00D9A6"/>
                </a:solidFill>
              </a:rPr>
              <a:t>✅ Boas Práticas: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ISR curta: setar flag, sair → processar no loop()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Sempre </a:t>
            </a:r>
            <a:r>
              <a:rPr lang="pt-BR" sz="1400" b="1" dirty="0">
                <a:solidFill>
                  <a:srgbClr val="FFC857"/>
                </a:solidFill>
                <a:latin typeface="Consolas"/>
              </a:rPr>
              <a:t>volatile</a:t>
            </a:r>
            <a:r>
              <a:rPr lang="pt-BR" sz="1400" dirty="0">
                <a:solidFill>
                  <a:srgbClr val="D0D0E0"/>
                </a:solidFill>
              </a:rPr>
              <a:t> para variáveis entre ISR e loop()</a:t>
            </a:r>
          </a:p>
          <a:p>
            <a:pPr marL="457200" indent="-228600">
              <a:spcBef>
                <a:spcPts val="150"/>
              </a:spcBef>
              <a:buFont typeface="Arial"/>
              <a:buChar char="▸"/>
            </a:pPr>
            <a:r>
              <a:rPr lang="pt-BR" sz="1400" dirty="0">
                <a:solidFill>
                  <a:srgbClr val="D0D0E0"/>
                </a:solidFill>
              </a:rPr>
              <a:t>Combinar técnicas: millis() + SM + interrupt = sistema robusto</a:t>
            </a:r>
          </a:p>
        </p:txBody>
      </p:sp>
    </p:spTree>
    <p:extLst>
      <p:ext uri="{BB962C8B-B14F-4D97-AF65-F5344CB8AC3E}">
        <p14:creationId xmlns:p14="http://schemas.microsoft.com/office/powerpoint/2010/main" val="4054380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5416833521]">
  <a:themeElements>
    <a:clrScheme name="ESP32 Dark">
      <a:dk1>
        <a:srgbClr val="F0F0F5"/>
      </a:dk1>
      <a:lt1>
        <a:srgbClr val="12131A"/>
      </a:lt1>
      <a:dk2>
        <a:srgbClr val="B8B8CC"/>
      </a:dk2>
      <a:lt2>
        <a:srgbClr val="1C1D2B"/>
      </a:lt2>
      <a:accent1>
        <a:srgbClr val="6C63FF"/>
      </a:accent1>
      <a:accent2>
        <a:srgbClr val="00D9A6"/>
      </a:accent2>
      <a:accent3>
        <a:srgbClr val="FF6B6B"/>
      </a:accent3>
      <a:accent4>
        <a:srgbClr val="FFC857"/>
      </a:accent4>
      <a:accent5>
        <a:srgbClr val="4ECDC4"/>
      </a:accent5>
      <a:accent6>
        <a:srgbClr val="A78BFA"/>
      </a:accent6>
      <a:hlink>
        <a:srgbClr val="467886"/>
      </a:hlink>
      <a:folHlink>
        <a:srgbClr val="96607D"/>
      </a:folHlink>
    </a:clrScheme>
    <a:fontScheme name="ESP32 Fonts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67AC86-72C3-4E7D-B54F-9A5CFECE090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1e60b87-0ad8-47b7-b91e-8682f283c3a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2002</Words>
  <Application>Microsoft Office PowerPoint</Application>
  <PresentationFormat>Widescreen</PresentationFormat>
  <Paragraphs>371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Consolas</vt:lpstr>
      <vt:lpstr>Segoe UI</vt:lpstr>
      <vt:lpstr>Tema do Office [1775416833521]</vt:lpstr>
      <vt:lpstr>Gerenciamento de Tarefas,
Tempo e Estados na ESP32</vt:lpstr>
      <vt:lpstr>Agenda</vt:lpstr>
      <vt:lpstr>Task Management na ESP32</vt:lpstr>
      <vt:lpstr>FreeRTOS na ESP32</vt:lpstr>
      <vt:lpstr>Tasks vs Loop Tradicional</vt:lpstr>
      <vt:lpstr>Concorrência vs Paralelismo</vt:lpstr>
      <vt:lpstr>Quando Usar Multitarefa?</vt:lpstr>
      <vt:lpstr>O Problema do delay()</vt:lpstr>
      <vt:lpstr>Por Que delay() é Prejudicial?</vt:lpstr>
      <vt:lpstr>Linha do Tempo: delay() vs Não-Bloqueante</vt:lpstr>
      <vt:lpstr>Código: delay() vs millis()</vt:lpstr>
      <vt:lpstr>Controle de Tempo com millis()</vt:lpstr>
      <vt:lpstr>Como millis() Funciona?</vt:lpstr>
      <vt:lpstr>Padrão millis(): Fluxo de Execução</vt:lpstr>
      <vt:lpstr>Aplicações Práticas de millis()</vt:lpstr>
      <vt:lpstr>Máquinas de Estado</vt:lpstr>
      <vt:lpstr>Nível 1: if + millis()</vt:lpstr>
      <vt:lpstr>Nível 2: switch-case</vt:lpstr>
      <vt:lpstr>Código: switch-case State Machine</vt:lpstr>
      <vt:lpstr>Nível 3: Arquitetura Escalável</vt:lpstr>
      <vt:lpstr>Comparação: Níveis de State Machine</vt:lpstr>
      <vt:lpstr>Interrupções na ESP32</vt:lpstr>
      <vt:lpstr>Polling vs Interrupção</vt:lpstr>
      <vt:lpstr>Interrupção GPIO: Como Funciona</vt:lpstr>
      <vt:lpstr>Interrupção por Timer</vt:lpstr>
      <vt:lpstr>Timer vs IO Interrupt
&amp; Código Prático</vt:lpstr>
      <vt:lpstr>Timer vs GPIO Interrupt</vt:lpstr>
      <vt:lpstr>Código: millis() &amp; GPIO Interrupt</vt:lpstr>
      <vt:lpstr>Código: Timer Interrupt &amp; State Machine</vt:lpstr>
      <vt:lpstr>Resumo &amp; Boas Práticas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Morais</cp:lastModifiedBy>
  <cp:revision>1</cp:revision>
  <dcterms:created xsi:type="dcterms:W3CDTF">2026-04-05T19:11:46Z</dcterms:created>
  <dcterms:modified xsi:type="dcterms:W3CDTF">2026-04-08T16:53:02Z</dcterms:modified>
</cp:coreProperties>
</file>